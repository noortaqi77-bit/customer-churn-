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63" r:id="rId6"/>
    <p:sldId id="276" r:id="rId7"/>
    <p:sldId id="260" r:id="rId8"/>
    <p:sldId id="274" r:id="rId9"/>
    <p:sldId id="275" r:id="rId10"/>
    <p:sldId id="261" r:id="rId11"/>
    <p:sldId id="259" r:id="rId12"/>
    <p:sldId id="265" r:id="rId13"/>
    <p:sldId id="266" r:id="rId14"/>
    <p:sldId id="270" r:id="rId15"/>
  </p:sldIdLst>
  <p:sldSz cx="18288000" cy="10287000"/>
  <p:notesSz cx="6858000" cy="9144000"/>
  <p:embeddedFontLst>
    <p:embeddedFont>
      <p:font typeface="Canva Sans Bold" panose="020B0604020202020204" charset="0"/>
      <p:regular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Bold" panose="00000800000000000000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9E9"/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611945">
            <a:off x="14458950" y="4723039"/>
            <a:ext cx="7658100" cy="5426529"/>
            <a:chOff x="0" y="0"/>
            <a:chExt cx="2016948" cy="1429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6948" cy="1429209"/>
            </a:xfrm>
            <a:custGeom>
              <a:avLst/>
              <a:gdLst/>
              <a:ahLst/>
              <a:cxnLst/>
              <a:rect l="l" t="t" r="r" b="b"/>
              <a:pathLst>
                <a:path w="2016948" h="1429209">
                  <a:moveTo>
                    <a:pt x="51558" y="0"/>
                  </a:moveTo>
                  <a:lnTo>
                    <a:pt x="1965390" y="0"/>
                  </a:lnTo>
                  <a:cubicBezTo>
                    <a:pt x="1979064" y="0"/>
                    <a:pt x="1992178" y="5432"/>
                    <a:pt x="2001847" y="15101"/>
                  </a:cubicBezTo>
                  <a:cubicBezTo>
                    <a:pt x="2011516" y="24770"/>
                    <a:pt x="2016948" y="37884"/>
                    <a:pt x="2016948" y="51558"/>
                  </a:cubicBezTo>
                  <a:lnTo>
                    <a:pt x="2016948" y="1377651"/>
                  </a:lnTo>
                  <a:cubicBezTo>
                    <a:pt x="2016948" y="1391325"/>
                    <a:pt x="2011516" y="1404439"/>
                    <a:pt x="2001847" y="1414108"/>
                  </a:cubicBezTo>
                  <a:cubicBezTo>
                    <a:pt x="1992178" y="1423777"/>
                    <a:pt x="1979064" y="1429209"/>
                    <a:pt x="1965390" y="1429209"/>
                  </a:cubicBezTo>
                  <a:lnTo>
                    <a:pt x="51558" y="1429209"/>
                  </a:lnTo>
                  <a:cubicBezTo>
                    <a:pt x="37884" y="1429209"/>
                    <a:pt x="24770" y="1423777"/>
                    <a:pt x="15101" y="1414108"/>
                  </a:cubicBezTo>
                  <a:cubicBezTo>
                    <a:pt x="5432" y="1404439"/>
                    <a:pt x="0" y="1391325"/>
                    <a:pt x="0" y="1377651"/>
                  </a:cubicBezTo>
                  <a:lnTo>
                    <a:pt x="0" y="51558"/>
                  </a:lnTo>
                  <a:cubicBezTo>
                    <a:pt x="0" y="37884"/>
                    <a:pt x="5432" y="24770"/>
                    <a:pt x="15101" y="15101"/>
                  </a:cubicBezTo>
                  <a:cubicBezTo>
                    <a:pt x="24770" y="5432"/>
                    <a:pt x="37884" y="0"/>
                    <a:pt x="51558" y="0"/>
                  </a:cubicBez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2016948" cy="17625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611945">
            <a:off x="-614581" y="-1866767"/>
            <a:ext cx="3031341" cy="2798456"/>
            <a:chOff x="0" y="0"/>
            <a:chExt cx="798378" cy="7370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8378" cy="737042"/>
            </a:xfrm>
            <a:custGeom>
              <a:avLst/>
              <a:gdLst/>
              <a:ahLst/>
              <a:cxnLst/>
              <a:rect l="l" t="t" r="r" b="b"/>
              <a:pathLst>
                <a:path w="798378" h="737042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611945">
            <a:off x="12055325" y="9566947"/>
            <a:ext cx="3031341" cy="2798456"/>
            <a:chOff x="0" y="0"/>
            <a:chExt cx="798378" cy="7370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8378" cy="737042"/>
            </a:xfrm>
            <a:custGeom>
              <a:avLst/>
              <a:gdLst/>
              <a:ahLst/>
              <a:cxnLst/>
              <a:rect l="l" t="t" r="r" b="b"/>
              <a:pathLst>
                <a:path w="798378" h="737042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C27F7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3011342" y="6140237"/>
            <a:ext cx="8918179" cy="19050"/>
          </a:xfrm>
          <a:prstGeom prst="line">
            <a:avLst/>
          </a:prstGeom>
          <a:ln w="476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12" name="Group 12"/>
          <p:cNvGrpSpPr/>
          <p:nvPr/>
        </p:nvGrpSpPr>
        <p:grpSpPr>
          <a:xfrm rot="-2611945">
            <a:off x="12744473" y="42362"/>
            <a:ext cx="8101900" cy="3702724"/>
            <a:chOff x="0" y="0"/>
            <a:chExt cx="2133834" cy="9752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C27F7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89597">
            <a:off x="3022879" y="1307360"/>
            <a:ext cx="606050" cy="53029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-3175"/>
              <a:ext cx="558800" cy="6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902234" y="1910433"/>
            <a:ext cx="8544752" cy="3796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26"/>
              </a:lnSpc>
            </a:pPr>
            <a:r>
              <a:rPr lang="en-US" sz="1094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</a:t>
            </a:r>
          </a:p>
          <a:p>
            <a:pPr algn="ctr">
              <a:lnSpc>
                <a:spcPts val="15326"/>
              </a:lnSpc>
            </a:pPr>
            <a:r>
              <a:rPr lang="en-US" sz="1094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Churn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89177" y="5812498"/>
            <a:ext cx="9524466" cy="2864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26"/>
              </a:lnSpc>
            </a:pPr>
            <a:r>
              <a:rPr lang="en-US" sz="4000" b="1" dirty="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Noor Taqi</a:t>
            </a:r>
          </a:p>
          <a:p>
            <a:pPr algn="ctr">
              <a:lnSpc>
                <a:spcPts val="11926"/>
              </a:lnSpc>
            </a:pPr>
            <a:r>
              <a:rPr lang="en-US" sz="4000" b="1" dirty="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DSB3</a:t>
            </a:r>
            <a:endParaRPr lang="ar-BH" sz="4000" b="1" dirty="0">
              <a:solidFill>
                <a:srgbClr val="8D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22" name="Group 22"/>
          <p:cNvGrpSpPr/>
          <p:nvPr/>
        </p:nvGrpSpPr>
        <p:grpSpPr>
          <a:xfrm rot="-2789597">
            <a:off x="3271634" y="1536595"/>
            <a:ext cx="431165" cy="377270"/>
            <a:chOff x="0" y="0"/>
            <a:chExt cx="812800" cy="711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27F7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7000" y="-3175"/>
              <a:ext cx="558800" cy="6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-2611945">
            <a:off x="10808920" y="-3972270"/>
            <a:ext cx="8101900" cy="3702724"/>
            <a:chOff x="0" y="0"/>
            <a:chExt cx="2133834" cy="9752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2611945">
            <a:off x="-6128725" y="8307085"/>
            <a:ext cx="8101900" cy="3702724"/>
            <a:chOff x="0" y="0"/>
            <a:chExt cx="2133834" cy="97520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299003" y="2404674"/>
            <a:ext cx="8918240" cy="101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 b="1" spc="1478" dirty="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796411" y="1360532"/>
            <a:ext cx="1592821" cy="7565937"/>
            <a:chOff x="0" y="0"/>
            <a:chExt cx="419508" cy="1992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491589" y="1360532"/>
            <a:ext cx="1592821" cy="7565937"/>
            <a:chOff x="0" y="0"/>
            <a:chExt cx="419508" cy="19926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4299033" y="3654044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6576092" y="4000500"/>
            <a:ext cx="5135815" cy="3866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Aim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Objectives 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</a:p>
          <a:p>
            <a:pPr marL="539749" lvl="1" indent="-269875" algn="l">
              <a:lnSpc>
                <a:spcPts val="6249"/>
              </a:lnSpc>
              <a:buFont typeface="Arial"/>
              <a:buChar char="•"/>
            </a:pPr>
            <a:r>
              <a:rPr lang="en-US" sz="2499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Recommendation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03507">
            <a:off x="5575554" y="1931776"/>
            <a:ext cx="15601224" cy="7674503"/>
            <a:chOff x="0" y="0"/>
            <a:chExt cx="3314160" cy="17898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4160" cy="1789862"/>
            </a:xfrm>
            <a:custGeom>
              <a:avLst/>
              <a:gdLst/>
              <a:ahLst/>
              <a:cxnLst/>
              <a:rect l="l" t="t" r="r" b="b"/>
              <a:pathLst>
                <a:path w="3314160" h="1789862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758484"/>
                  </a:lnTo>
                  <a:cubicBezTo>
                    <a:pt x="3314160" y="1775814"/>
                    <a:pt x="3300112" y="1789862"/>
                    <a:pt x="3282783" y="1789862"/>
                  </a:cubicBezTo>
                  <a:lnTo>
                    <a:pt x="31378" y="1789862"/>
                  </a:lnTo>
                  <a:cubicBezTo>
                    <a:pt x="14048" y="1789862"/>
                    <a:pt x="0" y="1775814"/>
                    <a:pt x="0" y="1758484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3314160" cy="2123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-2185362" y="3210262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1028700" y="1014482"/>
            <a:ext cx="6760254" cy="1848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1" dirty="0"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  <a:r>
              <a:rPr lang="en-US" sz="7100" b="1" dirty="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 statement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5297" y="3611454"/>
            <a:ext cx="6196126" cy="344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spcBef>
                <a:spcPct val="0"/>
              </a:spcBef>
            </a:pPr>
            <a:r>
              <a:rPr lang="en-US" sz="3200" dirty="0"/>
              <a:t>T</a:t>
            </a:r>
            <a:r>
              <a:rPr lang="en-GB" sz="3200" dirty="0"/>
              <a:t>he company is facing a severe customer churn crisis, with 47.4% of 64,374 subscribers </a:t>
            </a:r>
            <a:r>
              <a:rPr lang="en-GB" sz="3200" dirty="0" err="1"/>
              <a:t>canceling</a:t>
            </a:r>
            <a:r>
              <a:rPr lang="en-GB" sz="3200" dirty="0"/>
              <a:t> their service, resulting in an estimated $18,991,722 in lost revenue and substantially higher customer acquisition costs.</a:t>
            </a:r>
            <a:endParaRPr lang="en-US" sz="3200" u="none" spc="71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B468AE-CF2C-2912-2B60-1A97A3BF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18" y="1432054"/>
            <a:ext cx="7681466" cy="7502396"/>
          </a:xfrm>
          <a:custGeom>
            <a:avLst/>
            <a:gdLst>
              <a:gd name="csX0" fmla="*/ 0 w 7681466"/>
              <a:gd name="csY0" fmla="*/ 0 h 7502396"/>
              <a:gd name="csX1" fmla="*/ 544686 w 7681466"/>
              <a:gd name="csY1" fmla="*/ 0 h 7502396"/>
              <a:gd name="csX2" fmla="*/ 1319816 w 7681466"/>
              <a:gd name="csY2" fmla="*/ 0 h 7502396"/>
              <a:gd name="csX3" fmla="*/ 2094945 w 7681466"/>
              <a:gd name="csY3" fmla="*/ 0 h 7502396"/>
              <a:gd name="csX4" fmla="*/ 2639631 w 7681466"/>
              <a:gd name="csY4" fmla="*/ 0 h 7502396"/>
              <a:gd name="csX5" fmla="*/ 3261131 w 7681466"/>
              <a:gd name="csY5" fmla="*/ 0 h 7502396"/>
              <a:gd name="csX6" fmla="*/ 3882632 w 7681466"/>
              <a:gd name="csY6" fmla="*/ 0 h 7502396"/>
              <a:gd name="csX7" fmla="*/ 4427318 w 7681466"/>
              <a:gd name="csY7" fmla="*/ 0 h 7502396"/>
              <a:gd name="csX8" fmla="*/ 5125633 w 7681466"/>
              <a:gd name="csY8" fmla="*/ 0 h 7502396"/>
              <a:gd name="csX9" fmla="*/ 5823948 w 7681466"/>
              <a:gd name="csY9" fmla="*/ 0 h 7502396"/>
              <a:gd name="csX10" fmla="*/ 6291819 w 7681466"/>
              <a:gd name="csY10" fmla="*/ 0 h 7502396"/>
              <a:gd name="csX11" fmla="*/ 7681466 w 7681466"/>
              <a:gd name="csY11" fmla="*/ 0 h 7502396"/>
              <a:gd name="csX12" fmla="*/ 7681466 w 7681466"/>
              <a:gd name="csY12" fmla="*/ 757060 h 7502396"/>
              <a:gd name="csX13" fmla="*/ 7681466 w 7681466"/>
              <a:gd name="csY13" fmla="*/ 1439096 h 7502396"/>
              <a:gd name="csX14" fmla="*/ 7681466 w 7681466"/>
              <a:gd name="csY14" fmla="*/ 1896060 h 7502396"/>
              <a:gd name="csX15" fmla="*/ 7681466 w 7681466"/>
              <a:gd name="csY15" fmla="*/ 2578096 h 7502396"/>
              <a:gd name="csX16" fmla="*/ 7681466 w 7681466"/>
              <a:gd name="csY16" fmla="*/ 3035060 h 7502396"/>
              <a:gd name="csX17" fmla="*/ 7681466 w 7681466"/>
              <a:gd name="csY17" fmla="*/ 3717096 h 7502396"/>
              <a:gd name="csX18" fmla="*/ 7681466 w 7681466"/>
              <a:gd name="csY18" fmla="*/ 4324108 h 7502396"/>
              <a:gd name="csX19" fmla="*/ 7681466 w 7681466"/>
              <a:gd name="csY19" fmla="*/ 5156192 h 7502396"/>
              <a:gd name="csX20" fmla="*/ 7681466 w 7681466"/>
              <a:gd name="csY20" fmla="*/ 5688180 h 7502396"/>
              <a:gd name="csX21" fmla="*/ 7681466 w 7681466"/>
              <a:gd name="csY21" fmla="*/ 6145144 h 7502396"/>
              <a:gd name="csX22" fmla="*/ 7681466 w 7681466"/>
              <a:gd name="csY22" fmla="*/ 7502396 h 7502396"/>
              <a:gd name="csX23" fmla="*/ 6829522 w 7681466"/>
              <a:gd name="csY23" fmla="*/ 7502396 h 7502396"/>
              <a:gd name="csX24" fmla="*/ 6131206 w 7681466"/>
              <a:gd name="csY24" fmla="*/ 7502396 h 7502396"/>
              <a:gd name="csX25" fmla="*/ 5663335 w 7681466"/>
              <a:gd name="csY25" fmla="*/ 7502396 h 7502396"/>
              <a:gd name="csX26" fmla="*/ 5118650 w 7681466"/>
              <a:gd name="csY26" fmla="*/ 7502396 h 7502396"/>
              <a:gd name="csX27" fmla="*/ 4650779 w 7681466"/>
              <a:gd name="csY27" fmla="*/ 7502396 h 7502396"/>
              <a:gd name="csX28" fmla="*/ 3875649 w 7681466"/>
              <a:gd name="csY28" fmla="*/ 7502396 h 7502396"/>
              <a:gd name="csX29" fmla="*/ 3254148 w 7681466"/>
              <a:gd name="csY29" fmla="*/ 7502396 h 7502396"/>
              <a:gd name="csX30" fmla="*/ 2555833 w 7681466"/>
              <a:gd name="csY30" fmla="*/ 7502396 h 7502396"/>
              <a:gd name="csX31" fmla="*/ 1703889 w 7681466"/>
              <a:gd name="csY31" fmla="*/ 7502396 h 7502396"/>
              <a:gd name="csX32" fmla="*/ 1005574 w 7681466"/>
              <a:gd name="csY32" fmla="*/ 7502396 h 7502396"/>
              <a:gd name="csX33" fmla="*/ 0 w 7681466"/>
              <a:gd name="csY33" fmla="*/ 7502396 h 7502396"/>
              <a:gd name="csX34" fmla="*/ 0 w 7681466"/>
              <a:gd name="csY34" fmla="*/ 6670312 h 7502396"/>
              <a:gd name="csX35" fmla="*/ 0 w 7681466"/>
              <a:gd name="csY35" fmla="*/ 5988276 h 7502396"/>
              <a:gd name="csX36" fmla="*/ 0 w 7681466"/>
              <a:gd name="csY36" fmla="*/ 5156192 h 7502396"/>
              <a:gd name="csX37" fmla="*/ 0 w 7681466"/>
              <a:gd name="csY37" fmla="*/ 4699228 h 7502396"/>
              <a:gd name="csX38" fmla="*/ 0 w 7681466"/>
              <a:gd name="csY38" fmla="*/ 4167240 h 7502396"/>
              <a:gd name="csX39" fmla="*/ 0 w 7681466"/>
              <a:gd name="csY39" fmla="*/ 3410180 h 7502396"/>
              <a:gd name="csX40" fmla="*/ 0 w 7681466"/>
              <a:gd name="csY40" fmla="*/ 2953216 h 7502396"/>
              <a:gd name="csX41" fmla="*/ 0 w 7681466"/>
              <a:gd name="csY41" fmla="*/ 2421228 h 7502396"/>
              <a:gd name="csX42" fmla="*/ 0 w 7681466"/>
              <a:gd name="csY42" fmla="*/ 1964264 h 7502396"/>
              <a:gd name="csX43" fmla="*/ 0 w 7681466"/>
              <a:gd name="csY43" fmla="*/ 1357252 h 7502396"/>
              <a:gd name="csX44" fmla="*/ 0 w 7681466"/>
              <a:gd name="csY44" fmla="*/ 600192 h 7502396"/>
              <a:gd name="csX45" fmla="*/ 0 w 7681466"/>
              <a:gd name="csY45" fmla="*/ 0 h 75023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7681466" h="7502396" fill="none" extrusionOk="0">
                <a:moveTo>
                  <a:pt x="0" y="0"/>
                </a:moveTo>
                <a:cubicBezTo>
                  <a:pt x="117403" y="22898"/>
                  <a:pt x="409197" y="-19145"/>
                  <a:pt x="544686" y="0"/>
                </a:cubicBezTo>
                <a:cubicBezTo>
                  <a:pt x="680175" y="19145"/>
                  <a:pt x="978976" y="37178"/>
                  <a:pt x="1319816" y="0"/>
                </a:cubicBezTo>
                <a:cubicBezTo>
                  <a:pt x="1660656" y="-37178"/>
                  <a:pt x="1732373" y="-13840"/>
                  <a:pt x="2094945" y="0"/>
                </a:cubicBezTo>
                <a:cubicBezTo>
                  <a:pt x="2457517" y="13840"/>
                  <a:pt x="2405280" y="22257"/>
                  <a:pt x="2639631" y="0"/>
                </a:cubicBezTo>
                <a:cubicBezTo>
                  <a:pt x="2873982" y="-22257"/>
                  <a:pt x="3130985" y="6082"/>
                  <a:pt x="3261131" y="0"/>
                </a:cubicBezTo>
                <a:cubicBezTo>
                  <a:pt x="3391277" y="-6082"/>
                  <a:pt x="3601965" y="15134"/>
                  <a:pt x="3882632" y="0"/>
                </a:cubicBezTo>
                <a:cubicBezTo>
                  <a:pt x="4163299" y="-15134"/>
                  <a:pt x="4155107" y="-22337"/>
                  <a:pt x="4427318" y="0"/>
                </a:cubicBezTo>
                <a:cubicBezTo>
                  <a:pt x="4699529" y="22337"/>
                  <a:pt x="4868230" y="21682"/>
                  <a:pt x="5125633" y="0"/>
                </a:cubicBezTo>
                <a:cubicBezTo>
                  <a:pt x="5383036" y="-21682"/>
                  <a:pt x="5516893" y="-14368"/>
                  <a:pt x="5823948" y="0"/>
                </a:cubicBezTo>
                <a:cubicBezTo>
                  <a:pt x="6131004" y="14368"/>
                  <a:pt x="6074982" y="18331"/>
                  <a:pt x="6291819" y="0"/>
                </a:cubicBezTo>
                <a:cubicBezTo>
                  <a:pt x="6508656" y="-18331"/>
                  <a:pt x="7341709" y="39563"/>
                  <a:pt x="7681466" y="0"/>
                </a:cubicBezTo>
                <a:cubicBezTo>
                  <a:pt x="7718183" y="316458"/>
                  <a:pt x="7647464" y="416763"/>
                  <a:pt x="7681466" y="757060"/>
                </a:cubicBezTo>
                <a:cubicBezTo>
                  <a:pt x="7715468" y="1097357"/>
                  <a:pt x="7681795" y="1138762"/>
                  <a:pt x="7681466" y="1439096"/>
                </a:cubicBezTo>
                <a:cubicBezTo>
                  <a:pt x="7681137" y="1739430"/>
                  <a:pt x="7683985" y="1780029"/>
                  <a:pt x="7681466" y="1896060"/>
                </a:cubicBezTo>
                <a:cubicBezTo>
                  <a:pt x="7678947" y="2012091"/>
                  <a:pt x="7685331" y="2287141"/>
                  <a:pt x="7681466" y="2578096"/>
                </a:cubicBezTo>
                <a:cubicBezTo>
                  <a:pt x="7677601" y="2869051"/>
                  <a:pt x="7663706" y="2884954"/>
                  <a:pt x="7681466" y="3035060"/>
                </a:cubicBezTo>
                <a:cubicBezTo>
                  <a:pt x="7699226" y="3185166"/>
                  <a:pt x="7682274" y="3441152"/>
                  <a:pt x="7681466" y="3717096"/>
                </a:cubicBezTo>
                <a:cubicBezTo>
                  <a:pt x="7680658" y="3993040"/>
                  <a:pt x="7682080" y="4105363"/>
                  <a:pt x="7681466" y="4324108"/>
                </a:cubicBezTo>
                <a:cubicBezTo>
                  <a:pt x="7680852" y="4542853"/>
                  <a:pt x="7709477" y="4770438"/>
                  <a:pt x="7681466" y="5156192"/>
                </a:cubicBezTo>
                <a:cubicBezTo>
                  <a:pt x="7653455" y="5541946"/>
                  <a:pt x="7707734" y="5559830"/>
                  <a:pt x="7681466" y="5688180"/>
                </a:cubicBezTo>
                <a:cubicBezTo>
                  <a:pt x="7655198" y="5816530"/>
                  <a:pt x="7677549" y="5954586"/>
                  <a:pt x="7681466" y="6145144"/>
                </a:cubicBezTo>
                <a:cubicBezTo>
                  <a:pt x="7685383" y="6335702"/>
                  <a:pt x="7716564" y="7098637"/>
                  <a:pt x="7681466" y="7502396"/>
                </a:cubicBezTo>
                <a:cubicBezTo>
                  <a:pt x="7267996" y="7509463"/>
                  <a:pt x="7179807" y="7532920"/>
                  <a:pt x="6829522" y="7502396"/>
                </a:cubicBezTo>
                <a:cubicBezTo>
                  <a:pt x="6479237" y="7471872"/>
                  <a:pt x="6364483" y="7500486"/>
                  <a:pt x="6131206" y="7502396"/>
                </a:cubicBezTo>
                <a:cubicBezTo>
                  <a:pt x="5897929" y="7504306"/>
                  <a:pt x="5854456" y="7479822"/>
                  <a:pt x="5663335" y="7502396"/>
                </a:cubicBezTo>
                <a:cubicBezTo>
                  <a:pt x="5472214" y="7524970"/>
                  <a:pt x="5249999" y="7488404"/>
                  <a:pt x="5118650" y="7502396"/>
                </a:cubicBezTo>
                <a:cubicBezTo>
                  <a:pt x="4987302" y="7516388"/>
                  <a:pt x="4853099" y="7493616"/>
                  <a:pt x="4650779" y="7502396"/>
                </a:cubicBezTo>
                <a:cubicBezTo>
                  <a:pt x="4448459" y="7511176"/>
                  <a:pt x="4187926" y="7517221"/>
                  <a:pt x="3875649" y="7502396"/>
                </a:cubicBezTo>
                <a:cubicBezTo>
                  <a:pt x="3563372" y="7487572"/>
                  <a:pt x="3427105" y="7474917"/>
                  <a:pt x="3254148" y="7502396"/>
                </a:cubicBezTo>
                <a:cubicBezTo>
                  <a:pt x="3081191" y="7529875"/>
                  <a:pt x="2834741" y="7469254"/>
                  <a:pt x="2555833" y="7502396"/>
                </a:cubicBezTo>
                <a:cubicBezTo>
                  <a:pt x="2276925" y="7535538"/>
                  <a:pt x="2085021" y="7473214"/>
                  <a:pt x="1703889" y="7502396"/>
                </a:cubicBezTo>
                <a:cubicBezTo>
                  <a:pt x="1322757" y="7531578"/>
                  <a:pt x="1212459" y="7518070"/>
                  <a:pt x="1005574" y="7502396"/>
                </a:cubicBezTo>
                <a:cubicBezTo>
                  <a:pt x="798690" y="7486722"/>
                  <a:pt x="321910" y="7458038"/>
                  <a:pt x="0" y="7502396"/>
                </a:cubicBezTo>
                <a:cubicBezTo>
                  <a:pt x="8980" y="7133148"/>
                  <a:pt x="29674" y="7070233"/>
                  <a:pt x="0" y="6670312"/>
                </a:cubicBezTo>
                <a:cubicBezTo>
                  <a:pt x="-29674" y="6270391"/>
                  <a:pt x="-25235" y="6140503"/>
                  <a:pt x="0" y="5988276"/>
                </a:cubicBezTo>
                <a:cubicBezTo>
                  <a:pt x="25235" y="5836049"/>
                  <a:pt x="17798" y="5503971"/>
                  <a:pt x="0" y="5156192"/>
                </a:cubicBezTo>
                <a:cubicBezTo>
                  <a:pt x="-17798" y="4808413"/>
                  <a:pt x="11037" y="4826031"/>
                  <a:pt x="0" y="4699228"/>
                </a:cubicBezTo>
                <a:cubicBezTo>
                  <a:pt x="-11037" y="4572425"/>
                  <a:pt x="-23972" y="4275082"/>
                  <a:pt x="0" y="4167240"/>
                </a:cubicBezTo>
                <a:cubicBezTo>
                  <a:pt x="23972" y="4059398"/>
                  <a:pt x="-14194" y="3618514"/>
                  <a:pt x="0" y="3410180"/>
                </a:cubicBezTo>
                <a:cubicBezTo>
                  <a:pt x="14194" y="3201846"/>
                  <a:pt x="-12761" y="3118908"/>
                  <a:pt x="0" y="2953216"/>
                </a:cubicBezTo>
                <a:cubicBezTo>
                  <a:pt x="12761" y="2787524"/>
                  <a:pt x="15588" y="2669038"/>
                  <a:pt x="0" y="2421228"/>
                </a:cubicBezTo>
                <a:cubicBezTo>
                  <a:pt x="-15588" y="2173418"/>
                  <a:pt x="8398" y="2159599"/>
                  <a:pt x="0" y="1964264"/>
                </a:cubicBezTo>
                <a:cubicBezTo>
                  <a:pt x="-8398" y="1768929"/>
                  <a:pt x="-22599" y="1560075"/>
                  <a:pt x="0" y="1357252"/>
                </a:cubicBezTo>
                <a:cubicBezTo>
                  <a:pt x="22599" y="1154429"/>
                  <a:pt x="19785" y="803468"/>
                  <a:pt x="0" y="600192"/>
                </a:cubicBezTo>
                <a:cubicBezTo>
                  <a:pt x="-19785" y="396916"/>
                  <a:pt x="-28874" y="137591"/>
                  <a:pt x="0" y="0"/>
                </a:cubicBezTo>
                <a:close/>
              </a:path>
              <a:path w="7681466" h="7502396" stroke="0" extrusionOk="0">
                <a:moveTo>
                  <a:pt x="0" y="0"/>
                </a:moveTo>
                <a:cubicBezTo>
                  <a:pt x="185861" y="-17794"/>
                  <a:pt x="460001" y="22476"/>
                  <a:pt x="775130" y="0"/>
                </a:cubicBezTo>
                <a:cubicBezTo>
                  <a:pt x="1090259" y="-22476"/>
                  <a:pt x="1015343" y="16422"/>
                  <a:pt x="1243001" y="0"/>
                </a:cubicBezTo>
                <a:cubicBezTo>
                  <a:pt x="1470659" y="-16422"/>
                  <a:pt x="1707426" y="-7157"/>
                  <a:pt x="2018131" y="0"/>
                </a:cubicBezTo>
                <a:cubicBezTo>
                  <a:pt x="2328836" y="7157"/>
                  <a:pt x="2567910" y="-7930"/>
                  <a:pt x="2870075" y="0"/>
                </a:cubicBezTo>
                <a:cubicBezTo>
                  <a:pt x="3172240" y="7930"/>
                  <a:pt x="3354679" y="-36376"/>
                  <a:pt x="3722019" y="0"/>
                </a:cubicBezTo>
                <a:cubicBezTo>
                  <a:pt x="4089359" y="36376"/>
                  <a:pt x="4152162" y="-16471"/>
                  <a:pt x="4497149" y="0"/>
                </a:cubicBezTo>
                <a:cubicBezTo>
                  <a:pt x="4842136" y="16471"/>
                  <a:pt x="5047498" y="-10674"/>
                  <a:pt x="5272279" y="0"/>
                </a:cubicBezTo>
                <a:cubicBezTo>
                  <a:pt x="5497060" y="10674"/>
                  <a:pt x="5672619" y="-24938"/>
                  <a:pt x="6047409" y="0"/>
                </a:cubicBezTo>
                <a:cubicBezTo>
                  <a:pt x="6422199" y="24938"/>
                  <a:pt x="6449628" y="-30763"/>
                  <a:pt x="6822538" y="0"/>
                </a:cubicBezTo>
                <a:cubicBezTo>
                  <a:pt x="7195448" y="30763"/>
                  <a:pt x="7343275" y="-15700"/>
                  <a:pt x="7681466" y="0"/>
                </a:cubicBezTo>
                <a:cubicBezTo>
                  <a:pt x="7651246" y="289082"/>
                  <a:pt x="7693593" y="386129"/>
                  <a:pt x="7681466" y="607012"/>
                </a:cubicBezTo>
                <a:cubicBezTo>
                  <a:pt x="7669339" y="827895"/>
                  <a:pt x="7671639" y="966114"/>
                  <a:pt x="7681466" y="1063976"/>
                </a:cubicBezTo>
                <a:cubicBezTo>
                  <a:pt x="7691293" y="1161838"/>
                  <a:pt x="7711272" y="1422325"/>
                  <a:pt x="7681466" y="1670988"/>
                </a:cubicBezTo>
                <a:cubicBezTo>
                  <a:pt x="7651660" y="1919651"/>
                  <a:pt x="7695036" y="2096581"/>
                  <a:pt x="7681466" y="2353024"/>
                </a:cubicBezTo>
                <a:cubicBezTo>
                  <a:pt x="7667896" y="2609467"/>
                  <a:pt x="7701569" y="2864793"/>
                  <a:pt x="7681466" y="3185108"/>
                </a:cubicBezTo>
                <a:cubicBezTo>
                  <a:pt x="7661363" y="3505423"/>
                  <a:pt x="7679534" y="3824114"/>
                  <a:pt x="7681466" y="4017192"/>
                </a:cubicBezTo>
                <a:cubicBezTo>
                  <a:pt x="7683398" y="4210270"/>
                  <a:pt x="7676129" y="4399446"/>
                  <a:pt x="7681466" y="4774252"/>
                </a:cubicBezTo>
                <a:cubicBezTo>
                  <a:pt x="7686803" y="5149058"/>
                  <a:pt x="7690461" y="5075068"/>
                  <a:pt x="7681466" y="5231216"/>
                </a:cubicBezTo>
                <a:cubicBezTo>
                  <a:pt x="7672471" y="5387364"/>
                  <a:pt x="7660797" y="5597489"/>
                  <a:pt x="7681466" y="5838228"/>
                </a:cubicBezTo>
                <a:cubicBezTo>
                  <a:pt x="7702135" y="6078967"/>
                  <a:pt x="7702401" y="6327575"/>
                  <a:pt x="7681466" y="6670312"/>
                </a:cubicBezTo>
                <a:cubicBezTo>
                  <a:pt x="7660531" y="7013049"/>
                  <a:pt x="7693998" y="7245682"/>
                  <a:pt x="7681466" y="7502396"/>
                </a:cubicBezTo>
                <a:cubicBezTo>
                  <a:pt x="7456364" y="7505563"/>
                  <a:pt x="7184843" y="7507098"/>
                  <a:pt x="6906336" y="7502396"/>
                </a:cubicBezTo>
                <a:cubicBezTo>
                  <a:pt x="6627829" y="7497695"/>
                  <a:pt x="6478584" y="7470624"/>
                  <a:pt x="6054392" y="7502396"/>
                </a:cubicBezTo>
                <a:cubicBezTo>
                  <a:pt x="5630200" y="7534168"/>
                  <a:pt x="5617715" y="7523566"/>
                  <a:pt x="5356077" y="7502396"/>
                </a:cubicBezTo>
                <a:cubicBezTo>
                  <a:pt x="5094440" y="7481226"/>
                  <a:pt x="4881494" y="7499007"/>
                  <a:pt x="4580947" y="7502396"/>
                </a:cubicBezTo>
                <a:cubicBezTo>
                  <a:pt x="4280400" y="7505786"/>
                  <a:pt x="4005486" y="7526924"/>
                  <a:pt x="3729003" y="7502396"/>
                </a:cubicBezTo>
                <a:cubicBezTo>
                  <a:pt x="3452520" y="7477868"/>
                  <a:pt x="3472955" y="7495484"/>
                  <a:pt x="3261131" y="7502396"/>
                </a:cubicBezTo>
                <a:cubicBezTo>
                  <a:pt x="3049307" y="7509308"/>
                  <a:pt x="2835141" y="7506105"/>
                  <a:pt x="2716446" y="7502396"/>
                </a:cubicBezTo>
                <a:cubicBezTo>
                  <a:pt x="2597752" y="7498687"/>
                  <a:pt x="2282582" y="7491561"/>
                  <a:pt x="2094945" y="7502396"/>
                </a:cubicBezTo>
                <a:cubicBezTo>
                  <a:pt x="1907308" y="7513231"/>
                  <a:pt x="1621947" y="7509243"/>
                  <a:pt x="1319816" y="7502396"/>
                </a:cubicBezTo>
                <a:cubicBezTo>
                  <a:pt x="1017685" y="7495549"/>
                  <a:pt x="996745" y="7505741"/>
                  <a:pt x="851944" y="7502396"/>
                </a:cubicBezTo>
                <a:cubicBezTo>
                  <a:pt x="707143" y="7499051"/>
                  <a:pt x="419482" y="7513992"/>
                  <a:pt x="0" y="7502396"/>
                </a:cubicBezTo>
                <a:cubicBezTo>
                  <a:pt x="-23912" y="7273417"/>
                  <a:pt x="-25747" y="7107864"/>
                  <a:pt x="0" y="6970408"/>
                </a:cubicBezTo>
                <a:cubicBezTo>
                  <a:pt x="25747" y="6832952"/>
                  <a:pt x="451" y="6424665"/>
                  <a:pt x="0" y="6138324"/>
                </a:cubicBezTo>
                <a:cubicBezTo>
                  <a:pt x="-451" y="5851983"/>
                  <a:pt x="3651" y="5900475"/>
                  <a:pt x="0" y="5681360"/>
                </a:cubicBezTo>
                <a:cubicBezTo>
                  <a:pt x="-3651" y="5462245"/>
                  <a:pt x="22341" y="5427366"/>
                  <a:pt x="0" y="5224396"/>
                </a:cubicBezTo>
                <a:cubicBezTo>
                  <a:pt x="-22341" y="5021426"/>
                  <a:pt x="-5079" y="4628987"/>
                  <a:pt x="0" y="4467336"/>
                </a:cubicBezTo>
                <a:cubicBezTo>
                  <a:pt x="5079" y="4305685"/>
                  <a:pt x="-26135" y="4156611"/>
                  <a:pt x="0" y="3935348"/>
                </a:cubicBezTo>
                <a:cubicBezTo>
                  <a:pt x="26135" y="3714085"/>
                  <a:pt x="24755" y="3299902"/>
                  <a:pt x="0" y="3103264"/>
                </a:cubicBezTo>
                <a:cubicBezTo>
                  <a:pt x="-24755" y="2906626"/>
                  <a:pt x="-36446" y="2605127"/>
                  <a:pt x="0" y="2346204"/>
                </a:cubicBezTo>
                <a:cubicBezTo>
                  <a:pt x="36446" y="2087281"/>
                  <a:pt x="-14219" y="1981579"/>
                  <a:pt x="0" y="1889240"/>
                </a:cubicBezTo>
                <a:cubicBezTo>
                  <a:pt x="14219" y="1796901"/>
                  <a:pt x="-12021" y="1302628"/>
                  <a:pt x="0" y="1057156"/>
                </a:cubicBezTo>
                <a:cubicBezTo>
                  <a:pt x="12021" y="811684"/>
                  <a:pt x="-51656" y="232280"/>
                  <a:pt x="0" y="0"/>
                </a:cubicBezTo>
                <a:close/>
              </a:path>
            </a:pathLst>
          </a:custGeom>
          <a:ln w="76200">
            <a:solidFill>
              <a:schemeClr val="accent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87879795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5667-18BC-098C-2547-BFFB98010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6B874A02-5CD0-9DC9-4227-DE998B6E02BC}"/>
              </a:ext>
            </a:extLst>
          </p:cNvPr>
          <p:cNvGrpSpPr/>
          <p:nvPr/>
        </p:nvGrpSpPr>
        <p:grpSpPr>
          <a:xfrm>
            <a:off x="3886200" y="3695700"/>
            <a:ext cx="9982200" cy="3257550"/>
            <a:chOff x="0" y="0"/>
            <a:chExt cx="1982641" cy="144037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DD00002-4529-E673-E04F-0A1949115B6C}"/>
                </a:ext>
              </a:extLst>
            </p:cNvPr>
            <p:cNvSpPr/>
            <p:nvPr/>
          </p:nvSpPr>
          <p:spPr>
            <a:xfrm>
              <a:off x="0" y="0"/>
              <a:ext cx="1982641" cy="1440374"/>
            </a:xfrm>
            <a:custGeom>
              <a:avLst/>
              <a:gdLst/>
              <a:ahLst/>
              <a:cxnLst/>
              <a:rect l="l" t="t" r="r" b="b"/>
              <a:pathLst>
                <a:path w="1982641" h="1440374">
                  <a:moveTo>
                    <a:pt x="52450" y="0"/>
                  </a:moveTo>
                  <a:lnTo>
                    <a:pt x="1930191" y="0"/>
                  </a:lnTo>
                  <a:cubicBezTo>
                    <a:pt x="1944101" y="0"/>
                    <a:pt x="1957442" y="5526"/>
                    <a:pt x="1967278" y="15362"/>
                  </a:cubicBezTo>
                  <a:cubicBezTo>
                    <a:pt x="1977115" y="25199"/>
                    <a:pt x="1982641" y="38540"/>
                    <a:pt x="1982641" y="52450"/>
                  </a:cubicBezTo>
                  <a:lnTo>
                    <a:pt x="1982641" y="1387923"/>
                  </a:lnTo>
                  <a:cubicBezTo>
                    <a:pt x="1982641" y="1416891"/>
                    <a:pt x="1959158" y="1440374"/>
                    <a:pt x="1930191" y="1440374"/>
                  </a:cubicBezTo>
                  <a:lnTo>
                    <a:pt x="52450" y="1440374"/>
                  </a:lnTo>
                  <a:cubicBezTo>
                    <a:pt x="23483" y="1440374"/>
                    <a:pt x="0" y="1416891"/>
                    <a:pt x="0" y="1387923"/>
                  </a:cubicBezTo>
                  <a:lnTo>
                    <a:pt x="0" y="52450"/>
                  </a:lnTo>
                  <a:cubicBezTo>
                    <a:pt x="0" y="23483"/>
                    <a:pt x="23483" y="0"/>
                    <a:pt x="52450" y="0"/>
                  </a:cubicBezTo>
                  <a:close/>
                </a:path>
              </a:pathLst>
            </a:custGeom>
            <a:solidFill>
              <a:srgbClr val="F1B4B4"/>
            </a:solidFill>
          </p:spPr>
          <p:txBody>
            <a:bodyPr/>
            <a:lstStyle/>
            <a:p>
              <a:pPr algn="ctr"/>
              <a:endParaRPr lang="ar-BH" sz="4000" dirty="0"/>
            </a:p>
            <a:p>
              <a:pPr algn="ctr"/>
              <a:r>
                <a:rPr lang="en-GB" sz="4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Identify the key drivers of customer churn and provide data-driven strategies to improve customer retention and protect recurring revenue.</a:t>
              </a:r>
            </a:p>
            <a:p>
              <a:pPr algn="ctr"/>
              <a:endParaRPr lang="en-GB" sz="4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0D9C668-A28A-56B9-50E0-EEAA7391CCFF}"/>
                </a:ext>
              </a:extLst>
            </p:cNvPr>
            <p:cNvSpPr txBox="1"/>
            <p:nvPr/>
          </p:nvSpPr>
          <p:spPr>
            <a:xfrm>
              <a:off x="0" y="-333375"/>
              <a:ext cx="1982641" cy="1773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29814A47-1196-F081-2F0F-42F44388FB2C}"/>
              </a:ext>
            </a:extLst>
          </p:cNvPr>
          <p:cNvSpPr/>
          <p:nvPr/>
        </p:nvSpPr>
        <p:spPr>
          <a:xfrm>
            <a:off x="-1851927" y="2356488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204E1D2-8201-0BBA-F27B-C4436E5568FD}"/>
              </a:ext>
            </a:extLst>
          </p:cNvPr>
          <p:cNvSpPr txBox="1"/>
          <p:nvPr/>
        </p:nvSpPr>
        <p:spPr>
          <a:xfrm>
            <a:off x="1686738" y="1353244"/>
            <a:ext cx="1840851" cy="805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61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Aim </a:t>
            </a:r>
          </a:p>
        </p:txBody>
      </p:sp>
    </p:spTree>
    <p:extLst>
      <p:ext uri="{BB962C8B-B14F-4D97-AF65-F5344CB8AC3E}">
        <p14:creationId xmlns:p14="http://schemas.microsoft.com/office/powerpoint/2010/main" val="2218805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79895" y="755830"/>
            <a:ext cx="9894109" cy="8775341"/>
            <a:chOff x="0" y="0"/>
            <a:chExt cx="2605856" cy="23112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5856" cy="2311201"/>
            </a:xfrm>
            <a:custGeom>
              <a:avLst/>
              <a:gdLst/>
              <a:ahLst/>
              <a:cxnLst/>
              <a:rect l="l" t="t" r="r" b="b"/>
              <a:pathLst>
                <a:path w="2605856" h="2311201">
                  <a:moveTo>
                    <a:pt x="0" y="0"/>
                  </a:moveTo>
                  <a:lnTo>
                    <a:pt x="2605856" y="0"/>
                  </a:lnTo>
                  <a:lnTo>
                    <a:pt x="2605856" y="2311201"/>
                  </a:lnTo>
                  <a:lnTo>
                    <a:pt x="0" y="231120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05856" cy="235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5472" y="4352052"/>
            <a:ext cx="7167241" cy="1457724"/>
            <a:chOff x="0" y="0"/>
            <a:chExt cx="1887668" cy="3839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87668" cy="383927"/>
            </a:xfrm>
            <a:custGeom>
              <a:avLst/>
              <a:gdLst/>
              <a:ahLst/>
              <a:cxnLst/>
              <a:rect l="l" t="t" r="r" b="b"/>
              <a:pathLst>
                <a:path w="1887668" h="383927">
                  <a:moveTo>
                    <a:pt x="55089" y="0"/>
                  </a:moveTo>
                  <a:lnTo>
                    <a:pt x="1832579" y="0"/>
                  </a:lnTo>
                  <a:cubicBezTo>
                    <a:pt x="1863004" y="0"/>
                    <a:pt x="1887668" y="24664"/>
                    <a:pt x="1887668" y="55089"/>
                  </a:cubicBezTo>
                  <a:lnTo>
                    <a:pt x="1887668" y="328838"/>
                  </a:lnTo>
                  <a:cubicBezTo>
                    <a:pt x="1887668" y="343449"/>
                    <a:pt x="1881864" y="357461"/>
                    <a:pt x="1871533" y="367792"/>
                  </a:cubicBezTo>
                  <a:cubicBezTo>
                    <a:pt x="1861202" y="378123"/>
                    <a:pt x="1847190" y="383927"/>
                    <a:pt x="1832579" y="383927"/>
                  </a:cubicBezTo>
                  <a:lnTo>
                    <a:pt x="55089" y="383927"/>
                  </a:lnTo>
                  <a:cubicBezTo>
                    <a:pt x="24664" y="383927"/>
                    <a:pt x="0" y="359263"/>
                    <a:pt x="0" y="328838"/>
                  </a:cubicBezTo>
                  <a:lnTo>
                    <a:pt x="0" y="55089"/>
                  </a:lnTo>
                  <a:cubicBezTo>
                    <a:pt x="0" y="24664"/>
                    <a:pt x="24664" y="0"/>
                    <a:pt x="55089" y="0"/>
                  </a:cubicBez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1887668" cy="717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4514850"/>
            <a:ext cx="5493069" cy="858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id="9" name="AutoShape 9"/>
          <p:cNvSpPr/>
          <p:nvPr/>
        </p:nvSpPr>
        <p:spPr>
          <a:xfrm>
            <a:off x="6693735" y="5162543"/>
            <a:ext cx="785257" cy="21292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10" name="Group 10"/>
          <p:cNvGrpSpPr/>
          <p:nvPr/>
        </p:nvGrpSpPr>
        <p:grpSpPr>
          <a:xfrm>
            <a:off x="8041870" y="1181717"/>
            <a:ext cx="862324" cy="8623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7F7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290614" y="1181100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2416" y="1119924"/>
            <a:ext cx="7492465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GB" sz="2400" b="1" dirty="0"/>
              <a:t>What is the churn rate across age categories and gender, and which age-gender segment has the highest churn rate?</a:t>
            </a:r>
            <a:endParaRPr lang="en-US" sz="2000" b="1" u="none" spc="71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8041870" y="2858117"/>
            <a:ext cx="862324" cy="86232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7F7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290614" y="2857500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52445" y="2612445"/>
            <a:ext cx="7492465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GB" sz="2400" b="1" dirty="0"/>
              <a:t>How does the churn rate vary by contract length (Monthly, Quarterly, Annual) and subscription type (Basic, Standard, Premium), and which factor differentiates churn more?</a:t>
            </a:r>
            <a:endParaRPr lang="en-GB" sz="2400" dirty="0"/>
          </a:p>
        </p:txBody>
      </p:sp>
      <p:grpSp>
        <p:nvGrpSpPr>
          <p:cNvPr id="20" name="Group 20"/>
          <p:cNvGrpSpPr/>
          <p:nvPr/>
        </p:nvGrpSpPr>
        <p:grpSpPr>
          <a:xfrm>
            <a:off x="8041870" y="4610716"/>
            <a:ext cx="862324" cy="86232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7F7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290614" y="4610100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52443" y="4660146"/>
            <a:ext cx="7492465" cy="759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GB" sz="2400" b="1" dirty="0"/>
              <a:t>Which tenure months (1-60) have the highest and lowest churn rates, and does low tenure imply a high churn rate?</a:t>
            </a:r>
            <a:endParaRPr lang="en-US" sz="2299" u="none" spc="71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8041870" y="6286500"/>
            <a:ext cx="862324" cy="862324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7F7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290614" y="6335714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52443" y="6241992"/>
            <a:ext cx="7492465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GB" sz="2400" b="1" dirty="0"/>
              <a:t>What percentage of customers had a payment delay exceeding 14 days across all customers, and how does the churn rate differ between high-delay and low-delay customers?</a:t>
            </a:r>
            <a:endParaRPr lang="en-GB" sz="2400" dirty="0"/>
          </a:p>
        </p:txBody>
      </p:sp>
      <p:grpSp>
        <p:nvGrpSpPr>
          <p:cNvPr id="30" name="Group 30"/>
          <p:cNvGrpSpPr/>
          <p:nvPr/>
        </p:nvGrpSpPr>
        <p:grpSpPr>
          <a:xfrm rot="-3503507">
            <a:off x="-1839914" y="8154245"/>
            <a:ext cx="6972581" cy="4300566"/>
            <a:chOff x="0" y="0"/>
            <a:chExt cx="1836400" cy="113265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36400" cy="1132659"/>
            </a:xfrm>
            <a:custGeom>
              <a:avLst/>
              <a:gdLst/>
              <a:ahLst/>
              <a:cxnLst/>
              <a:rect l="l" t="t" r="r" b="b"/>
              <a:pathLst>
                <a:path w="1836400" h="1132659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33" name="Group 25">
            <a:extLst>
              <a:ext uri="{FF2B5EF4-FFF2-40B4-BE49-F238E27FC236}">
                <a16:creationId xmlns:a16="http://schemas.microsoft.com/office/drawing/2014/main" id="{37EA19ED-EDD1-F65B-0868-427F2CEE5F06}"/>
              </a:ext>
            </a:extLst>
          </p:cNvPr>
          <p:cNvGrpSpPr/>
          <p:nvPr/>
        </p:nvGrpSpPr>
        <p:grpSpPr>
          <a:xfrm>
            <a:off x="8041870" y="8191500"/>
            <a:ext cx="862324" cy="862324"/>
            <a:chOff x="0" y="0"/>
            <a:chExt cx="812800" cy="812800"/>
          </a:xfrm>
        </p:grpSpPr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A094DB92-6114-7AFE-39D1-A9C3DE3FBD8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7F7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27">
              <a:extLst>
                <a:ext uri="{FF2B5EF4-FFF2-40B4-BE49-F238E27FC236}">
                  <a16:creationId xmlns:a16="http://schemas.microsoft.com/office/drawing/2014/main" id="{FDCECAA7-E0A1-E5AA-CF80-DAC759D1DFF9}"/>
                </a:ext>
              </a:extLst>
            </p:cNvPr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40" name="TextBox 28">
            <a:extLst>
              <a:ext uri="{FF2B5EF4-FFF2-40B4-BE49-F238E27FC236}">
                <a16:creationId xmlns:a16="http://schemas.microsoft.com/office/drawing/2014/main" id="{37DD58B8-CE34-15F2-CED4-8E71BF03B229}"/>
              </a:ext>
            </a:extLst>
          </p:cNvPr>
          <p:cNvSpPr txBox="1"/>
          <p:nvPr/>
        </p:nvSpPr>
        <p:spPr>
          <a:xfrm>
            <a:off x="8290614" y="8242864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AC535D-EDB6-EEFD-6C6D-8CB18BD0C9E7}"/>
              </a:ext>
            </a:extLst>
          </p:cNvPr>
          <p:cNvSpPr txBox="1"/>
          <p:nvPr/>
        </p:nvSpPr>
        <p:spPr>
          <a:xfrm>
            <a:off x="9129054" y="8082606"/>
            <a:ext cx="7939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/>
            <a:r>
              <a:rPr lang="en-GB" sz="2400" b="1" dirty="0"/>
              <a:t>How does the churn rate vary with the number of support calls (0-10), and how does it differ between customers with more than 6 calls and those with 6 or fewer?</a:t>
            </a:r>
            <a:endParaRPr lang="en-GB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0719B-B5DB-AACE-4952-2C3AFD05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00963E3-FEA5-3FFF-CF10-39FCF620306B}"/>
              </a:ext>
            </a:extLst>
          </p:cNvPr>
          <p:cNvSpPr txBox="1"/>
          <p:nvPr/>
        </p:nvSpPr>
        <p:spPr>
          <a:xfrm>
            <a:off x="3124200" y="4381500"/>
            <a:ext cx="11882877" cy="10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9600" b="1" dirty="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8799517-707B-ECFB-D9BD-DA9E9CF015ED}"/>
              </a:ext>
            </a:extLst>
          </p:cNvPr>
          <p:cNvGrpSpPr/>
          <p:nvPr/>
        </p:nvGrpSpPr>
        <p:grpSpPr>
          <a:xfrm rot="-3503507">
            <a:off x="-2356457" y="6564794"/>
            <a:ext cx="5968439" cy="2484763"/>
            <a:chOff x="0" y="0"/>
            <a:chExt cx="1571935" cy="65442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9FAB413-199B-3FFB-4989-553E0650269C}"/>
                </a:ext>
              </a:extLst>
            </p:cNvPr>
            <p:cNvSpPr/>
            <p:nvPr/>
          </p:nvSpPr>
          <p:spPr>
            <a:xfrm>
              <a:off x="0" y="0"/>
              <a:ext cx="1571935" cy="654423"/>
            </a:xfrm>
            <a:custGeom>
              <a:avLst/>
              <a:gdLst/>
              <a:ahLst/>
              <a:cxnLst/>
              <a:rect l="l" t="t" r="r" b="b"/>
              <a:pathLst>
                <a:path w="1571935" h="654423">
                  <a:moveTo>
                    <a:pt x="66154" y="0"/>
                  </a:moveTo>
                  <a:lnTo>
                    <a:pt x="1505780" y="0"/>
                  </a:lnTo>
                  <a:cubicBezTo>
                    <a:pt x="1523326" y="0"/>
                    <a:pt x="1540152" y="6970"/>
                    <a:pt x="1552558" y="19376"/>
                  </a:cubicBezTo>
                  <a:cubicBezTo>
                    <a:pt x="1564965" y="31782"/>
                    <a:pt x="1571935" y="48609"/>
                    <a:pt x="1571935" y="66154"/>
                  </a:cubicBezTo>
                  <a:lnTo>
                    <a:pt x="1571935" y="588269"/>
                  </a:lnTo>
                  <a:cubicBezTo>
                    <a:pt x="1571935" y="624805"/>
                    <a:pt x="1542316" y="654423"/>
                    <a:pt x="1505780" y="654423"/>
                  </a:cubicBezTo>
                  <a:lnTo>
                    <a:pt x="66154" y="654423"/>
                  </a:lnTo>
                  <a:cubicBezTo>
                    <a:pt x="29618" y="654423"/>
                    <a:pt x="0" y="624805"/>
                    <a:pt x="0" y="588269"/>
                  </a:cubicBezTo>
                  <a:lnTo>
                    <a:pt x="0" y="66154"/>
                  </a:lnTo>
                  <a:cubicBezTo>
                    <a:pt x="0" y="29618"/>
                    <a:pt x="29618" y="0"/>
                    <a:pt x="66154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450D253-C76F-902F-9BA8-CD0362BAFE7D}"/>
                </a:ext>
              </a:extLst>
            </p:cNvPr>
            <p:cNvSpPr txBox="1"/>
            <p:nvPr/>
          </p:nvSpPr>
          <p:spPr>
            <a:xfrm>
              <a:off x="0" y="-333375"/>
              <a:ext cx="1571935" cy="987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4FEC39D-5A71-45F9-C6D2-AA3EE0B13691}"/>
              </a:ext>
            </a:extLst>
          </p:cNvPr>
          <p:cNvGrpSpPr/>
          <p:nvPr/>
        </p:nvGrpSpPr>
        <p:grpSpPr>
          <a:xfrm rot="-3503507">
            <a:off x="14958997" y="1874234"/>
            <a:ext cx="6145518" cy="2741564"/>
            <a:chOff x="0" y="0"/>
            <a:chExt cx="1618573" cy="722058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64AD63E-498E-1559-DE3A-6F2195E1054F}"/>
                </a:ext>
              </a:extLst>
            </p:cNvPr>
            <p:cNvSpPr/>
            <p:nvPr/>
          </p:nvSpPr>
          <p:spPr>
            <a:xfrm>
              <a:off x="0" y="0"/>
              <a:ext cx="1618573" cy="722058"/>
            </a:xfrm>
            <a:custGeom>
              <a:avLst/>
              <a:gdLst/>
              <a:ahLst/>
              <a:cxnLst/>
              <a:rect l="l" t="t" r="r" b="b"/>
              <a:pathLst>
                <a:path w="1618573" h="722058">
                  <a:moveTo>
                    <a:pt x="64248" y="0"/>
                  </a:moveTo>
                  <a:lnTo>
                    <a:pt x="1554325" y="0"/>
                  </a:lnTo>
                  <a:cubicBezTo>
                    <a:pt x="1571364" y="0"/>
                    <a:pt x="1587706" y="6769"/>
                    <a:pt x="1599755" y="18818"/>
                  </a:cubicBezTo>
                  <a:cubicBezTo>
                    <a:pt x="1611804" y="30867"/>
                    <a:pt x="1618573" y="47208"/>
                    <a:pt x="1618573" y="64248"/>
                  </a:cubicBezTo>
                  <a:lnTo>
                    <a:pt x="1618573" y="657810"/>
                  </a:lnTo>
                  <a:cubicBezTo>
                    <a:pt x="1618573" y="674850"/>
                    <a:pt x="1611804" y="691191"/>
                    <a:pt x="1599755" y="703240"/>
                  </a:cubicBezTo>
                  <a:cubicBezTo>
                    <a:pt x="1587706" y="715289"/>
                    <a:pt x="1571364" y="722058"/>
                    <a:pt x="1554325" y="722058"/>
                  </a:cubicBezTo>
                  <a:lnTo>
                    <a:pt x="64248" y="722058"/>
                  </a:lnTo>
                  <a:cubicBezTo>
                    <a:pt x="47208" y="722058"/>
                    <a:pt x="30867" y="715289"/>
                    <a:pt x="18818" y="703240"/>
                  </a:cubicBezTo>
                  <a:cubicBezTo>
                    <a:pt x="6769" y="691191"/>
                    <a:pt x="0" y="674850"/>
                    <a:pt x="0" y="657810"/>
                  </a:cubicBezTo>
                  <a:lnTo>
                    <a:pt x="0" y="64248"/>
                  </a:lnTo>
                  <a:cubicBezTo>
                    <a:pt x="0" y="47208"/>
                    <a:pt x="6769" y="30867"/>
                    <a:pt x="18818" y="18818"/>
                  </a:cubicBezTo>
                  <a:cubicBezTo>
                    <a:pt x="30867" y="6769"/>
                    <a:pt x="47208" y="0"/>
                    <a:pt x="64248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8D91DD8-A635-D032-B239-EB4D274FAACD}"/>
                </a:ext>
              </a:extLst>
            </p:cNvPr>
            <p:cNvSpPr txBox="1"/>
            <p:nvPr/>
          </p:nvSpPr>
          <p:spPr>
            <a:xfrm>
              <a:off x="0" y="-333375"/>
              <a:ext cx="1618573" cy="1055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39367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54898" y="2476500"/>
            <a:ext cx="483683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668845" y="-79663"/>
            <a:ext cx="5901749" cy="538058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6249"/>
              </a:lnSpc>
            </a:pPr>
            <a:endParaRPr/>
          </a:p>
        </p:txBody>
      </p:sp>
      <p:grpSp>
        <p:nvGrpSpPr>
          <p:cNvPr id="13" name="Group 13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314160" cy="1944425"/>
            </a:xfrm>
            <a:custGeom>
              <a:avLst/>
              <a:gdLst/>
              <a:ahLst/>
              <a:cxnLst/>
              <a:rect l="l" t="t" r="r" b="b"/>
              <a:pathLst>
                <a:path w="3314160" h="1944425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78587" y="946727"/>
            <a:ext cx="12736647" cy="1306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6000" b="1" spc="733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Churn by Age &amp;Gender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64E40E-8EE4-AD6B-7E7D-523E22BB325A}"/>
              </a:ext>
            </a:extLst>
          </p:cNvPr>
          <p:cNvSpPr txBox="1"/>
          <p:nvPr/>
        </p:nvSpPr>
        <p:spPr>
          <a:xfrm>
            <a:off x="11364037" y="3492358"/>
            <a:ext cx="53023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200" b="1" dirty="0"/>
              <a:t>Female</a:t>
            </a:r>
            <a:r>
              <a:rPr lang="en-GB" sz="3200" dirty="0"/>
              <a:t> subscribers exhibit a consistently higher churn rate than </a:t>
            </a:r>
            <a:r>
              <a:rPr lang="en-GB" sz="3200" b="1" dirty="0"/>
              <a:t>male</a:t>
            </a:r>
            <a:r>
              <a:rPr lang="en-GB" sz="3200" dirty="0"/>
              <a:t> subscribers across all age groups</a:t>
            </a:r>
            <a:r>
              <a:rPr lang="en-US" sz="3200" dirty="0"/>
              <a:t>. </a:t>
            </a:r>
            <a:r>
              <a:rPr lang="en-GB" sz="3200" dirty="0"/>
              <a:t>While churn peaks in the </a:t>
            </a:r>
            <a:r>
              <a:rPr lang="en-GB" sz="3200" b="1" dirty="0"/>
              <a:t>49–65 age category</a:t>
            </a:r>
            <a:r>
              <a:rPr lang="en-GB" sz="3200" dirty="0"/>
              <a:t> for both genders</a:t>
            </a:r>
            <a:r>
              <a:rPr lang="ar-BH" sz="3200" dirty="0"/>
              <a:t>.</a:t>
            </a:r>
            <a:endParaRPr lang="en-GB" sz="3200" dirty="0"/>
          </a:p>
          <a:p>
            <a:endParaRPr lang="en-GB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A28D85A-F52A-370C-29E8-12593D1AB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8" y="2926563"/>
            <a:ext cx="10903226" cy="7169935"/>
          </a:xfrm>
          <a:prstGeom prst="rect">
            <a:avLst/>
          </a:prstGeom>
        </p:spPr>
      </p:pic>
      <p:sp>
        <p:nvSpPr>
          <p:cNvPr id="29" name="Freeform 17">
            <a:extLst>
              <a:ext uri="{FF2B5EF4-FFF2-40B4-BE49-F238E27FC236}">
                <a16:creationId xmlns:a16="http://schemas.microsoft.com/office/drawing/2014/main" id="{02DBE0A7-59EB-CCCB-7ED3-D5AACEAFEF9C}"/>
              </a:ext>
            </a:extLst>
          </p:cNvPr>
          <p:cNvSpPr/>
          <p:nvPr/>
        </p:nvSpPr>
        <p:spPr>
          <a:xfrm rot="18096493">
            <a:off x="-10670819" y="1021544"/>
            <a:ext cx="12583451" cy="7382741"/>
          </a:xfrm>
          <a:custGeom>
            <a:avLst/>
            <a:gdLst/>
            <a:ahLst/>
            <a:cxnLst/>
            <a:rect l="l" t="t" r="r" b="b"/>
            <a:pathLst>
              <a:path w="3314160" h="1944425">
                <a:moveTo>
                  <a:pt x="31378" y="0"/>
                </a:moveTo>
                <a:lnTo>
                  <a:pt x="3282783" y="0"/>
                </a:lnTo>
                <a:cubicBezTo>
                  <a:pt x="3300112" y="0"/>
                  <a:pt x="3314160" y="14048"/>
                  <a:pt x="3314160" y="31378"/>
                </a:cubicBezTo>
                <a:lnTo>
                  <a:pt x="3314160" y="1913047"/>
                </a:lnTo>
                <a:cubicBezTo>
                  <a:pt x="3314160" y="1930376"/>
                  <a:pt x="3300112" y="1944425"/>
                  <a:pt x="3282783" y="1944425"/>
                </a:cubicBezTo>
                <a:lnTo>
                  <a:pt x="31378" y="1944425"/>
                </a:lnTo>
                <a:cubicBezTo>
                  <a:pt x="14048" y="1944425"/>
                  <a:pt x="0" y="1930376"/>
                  <a:pt x="0" y="1913047"/>
                </a:cubicBezTo>
                <a:lnTo>
                  <a:pt x="0" y="31378"/>
                </a:lnTo>
                <a:cubicBezTo>
                  <a:pt x="0" y="14048"/>
                  <a:pt x="14048" y="0"/>
                  <a:pt x="31378" y="0"/>
                </a:cubicBezTo>
                <a:close/>
              </a:path>
            </a:pathLst>
          </a:custGeom>
          <a:solidFill>
            <a:srgbClr val="FFE9E9"/>
          </a:solid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D2ABB-F21A-B859-65FF-7313E564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3687F3F-AFD4-EDEC-B8D0-BE1B8B9A775A}"/>
              </a:ext>
            </a:extLst>
          </p:cNvPr>
          <p:cNvSpPr txBox="1"/>
          <p:nvPr/>
        </p:nvSpPr>
        <p:spPr>
          <a:xfrm>
            <a:off x="577550" y="3419951"/>
            <a:ext cx="551845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3200" b="1" dirty="0"/>
              <a:t>Monthly subscribers </a:t>
            </a:r>
            <a:r>
              <a:rPr lang="en-GB" sz="3200" dirty="0"/>
              <a:t>record the highest churn rate at over </a:t>
            </a:r>
            <a:r>
              <a:rPr lang="en-GB" sz="3200" b="1" dirty="0"/>
              <a:t>50%</a:t>
            </a:r>
            <a:r>
              <a:rPr lang="en-GB" sz="3200" dirty="0"/>
              <a:t>, This confirms that </a:t>
            </a:r>
            <a:r>
              <a:rPr lang="en-GB" sz="3200" b="1" dirty="0"/>
              <a:t>short-term</a:t>
            </a:r>
            <a:r>
              <a:rPr lang="en-GB" sz="3200" dirty="0"/>
              <a:t> contracts are a main </a:t>
            </a:r>
            <a:r>
              <a:rPr lang="en-GB" sz="3200" b="1" dirty="0"/>
              <a:t>driver of customer loss.</a:t>
            </a:r>
            <a:endParaRPr lang="en-US" sz="2800" b="1" dirty="0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8FD50CA-4870-7186-4129-ADDD9D8FB056}"/>
              </a:ext>
            </a:extLst>
          </p:cNvPr>
          <p:cNvSpPr txBox="1"/>
          <p:nvPr/>
        </p:nvSpPr>
        <p:spPr>
          <a:xfrm rot="18096493">
            <a:off x="4735851" y="8673375"/>
            <a:ext cx="5068421" cy="297623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6249"/>
              </a:lnSpc>
            </a:pPr>
            <a:endParaRPr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D58B6D4D-B493-E98F-E570-E166F66E86CF}"/>
              </a:ext>
            </a:extLst>
          </p:cNvPr>
          <p:cNvGrpSpPr/>
          <p:nvPr/>
        </p:nvGrpSpPr>
        <p:grpSpPr>
          <a:xfrm rot="-3503507">
            <a:off x="551042" y="-1554003"/>
            <a:ext cx="5068421" cy="1710448"/>
            <a:chOff x="0" y="0"/>
            <a:chExt cx="1334893" cy="4504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12BF175-9220-38B5-BDDE-EF4FD80ABD3F}"/>
                </a:ext>
              </a:extLst>
            </p:cNvPr>
            <p:cNvSpPr/>
            <p:nvPr/>
          </p:nvSpPr>
          <p:spPr>
            <a:xfrm>
              <a:off x="0" y="0"/>
              <a:ext cx="1334893" cy="450488"/>
            </a:xfrm>
            <a:custGeom>
              <a:avLst/>
              <a:gdLst/>
              <a:ahLst/>
              <a:cxnLst/>
              <a:rect l="l" t="t" r="r" b="b"/>
              <a:pathLst>
                <a:path w="1334893" h="450488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372587"/>
                  </a:lnTo>
                  <a:cubicBezTo>
                    <a:pt x="1334893" y="393248"/>
                    <a:pt x="1326685" y="413062"/>
                    <a:pt x="1312076" y="427672"/>
                  </a:cubicBezTo>
                  <a:cubicBezTo>
                    <a:pt x="1297467" y="442281"/>
                    <a:pt x="1277652" y="450488"/>
                    <a:pt x="1256991" y="450488"/>
                  </a:cubicBezTo>
                  <a:lnTo>
                    <a:pt x="77902" y="450488"/>
                  </a:lnTo>
                  <a:cubicBezTo>
                    <a:pt x="57241" y="450488"/>
                    <a:pt x="37426" y="442281"/>
                    <a:pt x="22817" y="427672"/>
                  </a:cubicBezTo>
                  <a:cubicBezTo>
                    <a:pt x="8207" y="413062"/>
                    <a:pt x="0" y="393248"/>
                    <a:pt x="0" y="372587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CB3ABE7-293F-F33B-290B-76FDFE49702C}"/>
                </a:ext>
              </a:extLst>
            </p:cNvPr>
            <p:cNvSpPr txBox="1"/>
            <p:nvPr/>
          </p:nvSpPr>
          <p:spPr>
            <a:xfrm>
              <a:off x="0" y="-333375"/>
              <a:ext cx="1334893" cy="783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1" name="AutoShape 11">
            <a:extLst>
              <a:ext uri="{FF2B5EF4-FFF2-40B4-BE49-F238E27FC236}">
                <a16:creationId xmlns:a16="http://schemas.microsoft.com/office/drawing/2014/main" id="{D80F1486-6ACE-E659-4166-08C69E72FCF1}"/>
              </a:ext>
            </a:extLst>
          </p:cNvPr>
          <p:cNvSpPr/>
          <p:nvPr/>
        </p:nvSpPr>
        <p:spPr>
          <a:xfrm>
            <a:off x="-838200" y="1404493"/>
            <a:ext cx="1060214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6DEE2DC7-1035-BCE2-DD86-B615D8AF534D}"/>
              </a:ext>
            </a:extLst>
          </p:cNvPr>
          <p:cNvSpPr txBox="1"/>
          <p:nvPr/>
        </p:nvSpPr>
        <p:spPr>
          <a:xfrm>
            <a:off x="381000" y="506298"/>
            <a:ext cx="11318966" cy="898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000" b="1" dirty="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Contract Length Impact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E9B1E-6DD5-D8F2-2009-418F80BD3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2103050"/>
            <a:ext cx="9745381" cy="67009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84A438C-156F-96FB-1F66-4C56EDC8F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999" y="1565310"/>
            <a:ext cx="11737601" cy="7845390"/>
          </a:xfrm>
          <a:prstGeom prst="rect">
            <a:avLst/>
          </a:prstGeom>
        </p:spPr>
      </p:pic>
      <p:grpSp>
        <p:nvGrpSpPr>
          <p:cNvPr id="23" name="Group 5">
            <a:extLst>
              <a:ext uri="{FF2B5EF4-FFF2-40B4-BE49-F238E27FC236}">
                <a16:creationId xmlns:a16="http://schemas.microsoft.com/office/drawing/2014/main" id="{A9AE45FA-5C9D-DBC5-1523-CF86C8055FD7}"/>
              </a:ext>
            </a:extLst>
          </p:cNvPr>
          <p:cNvGrpSpPr/>
          <p:nvPr/>
        </p:nvGrpSpPr>
        <p:grpSpPr>
          <a:xfrm rot="-3503507">
            <a:off x="3540349" y="8672544"/>
            <a:ext cx="5400241" cy="3820187"/>
            <a:chOff x="-87393" y="-555651"/>
            <a:chExt cx="1422286" cy="1006139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525CCE59-6F89-CFA0-DCCD-132E3A964455}"/>
                </a:ext>
              </a:extLst>
            </p:cNvPr>
            <p:cNvSpPr/>
            <p:nvPr/>
          </p:nvSpPr>
          <p:spPr>
            <a:xfrm>
              <a:off x="-87393" y="-555651"/>
              <a:ext cx="1334893" cy="450488"/>
            </a:xfrm>
            <a:custGeom>
              <a:avLst/>
              <a:gdLst/>
              <a:ahLst/>
              <a:cxnLst/>
              <a:rect l="l" t="t" r="r" b="b"/>
              <a:pathLst>
                <a:path w="1334893" h="450488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372587"/>
                  </a:lnTo>
                  <a:cubicBezTo>
                    <a:pt x="1334893" y="393248"/>
                    <a:pt x="1326685" y="413062"/>
                    <a:pt x="1312076" y="427672"/>
                  </a:cubicBezTo>
                  <a:cubicBezTo>
                    <a:pt x="1297467" y="442281"/>
                    <a:pt x="1277652" y="450488"/>
                    <a:pt x="1256991" y="450488"/>
                  </a:cubicBezTo>
                  <a:lnTo>
                    <a:pt x="77902" y="450488"/>
                  </a:lnTo>
                  <a:cubicBezTo>
                    <a:pt x="57241" y="450488"/>
                    <a:pt x="37426" y="442281"/>
                    <a:pt x="22817" y="427672"/>
                  </a:cubicBezTo>
                  <a:cubicBezTo>
                    <a:pt x="8207" y="413062"/>
                    <a:pt x="0" y="393248"/>
                    <a:pt x="0" y="372587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7976EEEA-9C6B-8B54-1ED8-73ECCD0508C5}"/>
                </a:ext>
              </a:extLst>
            </p:cNvPr>
            <p:cNvSpPr txBox="1"/>
            <p:nvPr/>
          </p:nvSpPr>
          <p:spPr>
            <a:xfrm>
              <a:off x="0" y="-333375"/>
              <a:ext cx="1334893" cy="783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89240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2F07A-9BE8-4A87-E80D-5FC58DCAD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1F44515-FA74-CE74-2BC7-6774C42EBBCF}"/>
              </a:ext>
            </a:extLst>
          </p:cNvPr>
          <p:cNvSpPr txBox="1"/>
          <p:nvPr/>
        </p:nvSpPr>
        <p:spPr>
          <a:xfrm>
            <a:off x="567931" y="3442637"/>
            <a:ext cx="3956633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1"/>
            <a:r>
              <a:rPr lang="en-GB" sz="3200" b="1" dirty="0"/>
              <a:t>Subscription type </a:t>
            </a:r>
            <a:r>
              <a:rPr lang="en-GB" sz="3200" dirty="0"/>
              <a:t>has negligible impact on churn, with the </a:t>
            </a:r>
            <a:r>
              <a:rPr lang="en-GB" sz="3200" b="1" dirty="0"/>
              <a:t>Basic plan </a:t>
            </a:r>
            <a:r>
              <a:rPr lang="en-GB" sz="3200" dirty="0"/>
              <a:t>recording only slightly higher rates .</a:t>
            </a:r>
            <a:endParaRPr lang="en-GB" sz="3200" dirty="0">
              <a:effectLst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9695FF92-8623-D1EA-8288-635CD52FC221}"/>
              </a:ext>
            </a:extLst>
          </p:cNvPr>
          <p:cNvGrpSpPr/>
          <p:nvPr/>
        </p:nvGrpSpPr>
        <p:grpSpPr>
          <a:xfrm rot="-3503507">
            <a:off x="551042" y="-1554003"/>
            <a:ext cx="5068421" cy="1710448"/>
            <a:chOff x="0" y="0"/>
            <a:chExt cx="1334893" cy="4504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61E998A-45F9-D1EB-8DF2-15F696B0FBC0}"/>
                </a:ext>
              </a:extLst>
            </p:cNvPr>
            <p:cNvSpPr/>
            <p:nvPr/>
          </p:nvSpPr>
          <p:spPr>
            <a:xfrm>
              <a:off x="0" y="0"/>
              <a:ext cx="1334893" cy="450488"/>
            </a:xfrm>
            <a:custGeom>
              <a:avLst/>
              <a:gdLst/>
              <a:ahLst/>
              <a:cxnLst/>
              <a:rect l="l" t="t" r="r" b="b"/>
              <a:pathLst>
                <a:path w="1334893" h="450488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372587"/>
                  </a:lnTo>
                  <a:cubicBezTo>
                    <a:pt x="1334893" y="393248"/>
                    <a:pt x="1326685" y="413062"/>
                    <a:pt x="1312076" y="427672"/>
                  </a:cubicBezTo>
                  <a:cubicBezTo>
                    <a:pt x="1297467" y="442281"/>
                    <a:pt x="1277652" y="450488"/>
                    <a:pt x="1256991" y="450488"/>
                  </a:cubicBezTo>
                  <a:lnTo>
                    <a:pt x="77902" y="450488"/>
                  </a:lnTo>
                  <a:cubicBezTo>
                    <a:pt x="57241" y="450488"/>
                    <a:pt x="37426" y="442281"/>
                    <a:pt x="22817" y="427672"/>
                  </a:cubicBezTo>
                  <a:cubicBezTo>
                    <a:pt x="8207" y="413062"/>
                    <a:pt x="0" y="393248"/>
                    <a:pt x="0" y="372587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43712EC-6B3C-242B-83CA-599B8B3C5E40}"/>
                </a:ext>
              </a:extLst>
            </p:cNvPr>
            <p:cNvSpPr txBox="1"/>
            <p:nvPr/>
          </p:nvSpPr>
          <p:spPr>
            <a:xfrm>
              <a:off x="0" y="-333375"/>
              <a:ext cx="1334893" cy="783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1" name="AutoShape 11">
            <a:extLst>
              <a:ext uri="{FF2B5EF4-FFF2-40B4-BE49-F238E27FC236}">
                <a16:creationId xmlns:a16="http://schemas.microsoft.com/office/drawing/2014/main" id="{15AC6F83-F006-B764-7EF0-930978E9664B}"/>
              </a:ext>
            </a:extLst>
          </p:cNvPr>
          <p:cNvSpPr/>
          <p:nvPr/>
        </p:nvSpPr>
        <p:spPr>
          <a:xfrm>
            <a:off x="-736524" y="1562100"/>
            <a:ext cx="1060214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5693FB61-F580-8E78-665F-697E8DE2B670}"/>
              </a:ext>
            </a:extLst>
          </p:cNvPr>
          <p:cNvSpPr txBox="1"/>
          <p:nvPr/>
        </p:nvSpPr>
        <p:spPr>
          <a:xfrm>
            <a:off x="381000" y="527151"/>
            <a:ext cx="11318966" cy="898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000" b="1" dirty="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Contract Length Impact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C25986-3CCE-4F0E-8C4E-3F12E6A52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564" y="1907716"/>
            <a:ext cx="13538102" cy="7852131"/>
          </a:xfrm>
          <a:prstGeom prst="rect">
            <a:avLst/>
          </a:prstGeom>
        </p:spPr>
      </p:pic>
      <p:grpSp>
        <p:nvGrpSpPr>
          <p:cNvPr id="12" name="Group 5">
            <a:extLst>
              <a:ext uri="{FF2B5EF4-FFF2-40B4-BE49-F238E27FC236}">
                <a16:creationId xmlns:a16="http://schemas.microsoft.com/office/drawing/2014/main" id="{C9A2BEF2-04E7-9DAE-8F9E-D7144CCCD80B}"/>
              </a:ext>
            </a:extLst>
          </p:cNvPr>
          <p:cNvGrpSpPr/>
          <p:nvPr/>
        </p:nvGrpSpPr>
        <p:grpSpPr>
          <a:xfrm rot="-3503507">
            <a:off x="893941" y="9561771"/>
            <a:ext cx="5068421" cy="1710448"/>
            <a:chOff x="0" y="0"/>
            <a:chExt cx="1334893" cy="450488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C27541D-8251-4B96-8EBE-7BDA48CD7F40}"/>
                </a:ext>
              </a:extLst>
            </p:cNvPr>
            <p:cNvSpPr/>
            <p:nvPr/>
          </p:nvSpPr>
          <p:spPr>
            <a:xfrm>
              <a:off x="0" y="0"/>
              <a:ext cx="1334893" cy="450488"/>
            </a:xfrm>
            <a:custGeom>
              <a:avLst/>
              <a:gdLst/>
              <a:ahLst/>
              <a:cxnLst/>
              <a:rect l="l" t="t" r="r" b="b"/>
              <a:pathLst>
                <a:path w="1334893" h="450488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372587"/>
                  </a:lnTo>
                  <a:cubicBezTo>
                    <a:pt x="1334893" y="393248"/>
                    <a:pt x="1326685" y="413062"/>
                    <a:pt x="1312076" y="427672"/>
                  </a:cubicBezTo>
                  <a:cubicBezTo>
                    <a:pt x="1297467" y="442281"/>
                    <a:pt x="1277652" y="450488"/>
                    <a:pt x="1256991" y="450488"/>
                  </a:cubicBezTo>
                  <a:lnTo>
                    <a:pt x="77902" y="450488"/>
                  </a:lnTo>
                  <a:cubicBezTo>
                    <a:pt x="57241" y="450488"/>
                    <a:pt x="37426" y="442281"/>
                    <a:pt x="22817" y="427672"/>
                  </a:cubicBezTo>
                  <a:cubicBezTo>
                    <a:pt x="8207" y="413062"/>
                    <a:pt x="0" y="393248"/>
                    <a:pt x="0" y="372587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471098BD-41A4-0B9F-88C1-8178476EDE92}"/>
                </a:ext>
              </a:extLst>
            </p:cNvPr>
            <p:cNvSpPr txBox="1"/>
            <p:nvPr/>
          </p:nvSpPr>
          <p:spPr>
            <a:xfrm>
              <a:off x="0" y="-333375"/>
              <a:ext cx="1334893" cy="783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527840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03507">
            <a:off x="5492540" y="3717576"/>
            <a:ext cx="12583451" cy="7382737"/>
            <a:chOff x="0" y="0"/>
            <a:chExt cx="3314160" cy="19444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4160" cy="1944425"/>
            </a:xfrm>
            <a:custGeom>
              <a:avLst/>
              <a:gdLst/>
              <a:ahLst/>
              <a:cxnLst/>
              <a:rect l="l" t="t" r="r" b="b"/>
              <a:pathLst>
                <a:path w="3314160" h="1944425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61912" y="1627571"/>
            <a:ext cx="10632856" cy="7056502"/>
            <a:chOff x="0" y="0"/>
            <a:chExt cx="12865223" cy="9408670"/>
          </a:xfrm>
        </p:grpSpPr>
        <p:sp>
          <p:nvSpPr>
            <p:cNvPr id="6" name="AutoShape 6"/>
            <p:cNvSpPr/>
            <p:nvPr/>
          </p:nvSpPr>
          <p:spPr>
            <a:xfrm flipV="1">
              <a:off x="19106" y="19050"/>
              <a:ext cx="12846060" cy="37895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AutoShape 7"/>
            <p:cNvSpPr/>
            <p:nvPr/>
          </p:nvSpPr>
          <p:spPr>
            <a:xfrm flipH="1">
              <a:off x="19050" y="75995"/>
              <a:ext cx="19050" cy="9307338"/>
            </a:xfrm>
            <a:prstGeom prst="line">
              <a:avLst/>
            </a:prstGeom>
            <a:ln w="38100" cap="flat">
              <a:solidFill>
                <a:srgbClr val="8D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AutoShape 8"/>
            <p:cNvSpPr/>
            <p:nvPr/>
          </p:nvSpPr>
          <p:spPr>
            <a:xfrm flipH="1">
              <a:off x="12827123" y="34237"/>
              <a:ext cx="19050" cy="9307338"/>
            </a:xfrm>
            <a:prstGeom prst="line">
              <a:avLst/>
            </a:prstGeom>
            <a:ln w="38100" cap="flat">
              <a:solidFill>
                <a:srgbClr val="8D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AutoShape 9"/>
            <p:cNvSpPr/>
            <p:nvPr/>
          </p:nvSpPr>
          <p:spPr>
            <a:xfrm flipV="1">
              <a:off x="56" y="9351724"/>
              <a:ext cx="12846060" cy="37895"/>
            </a:xfrm>
            <a:prstGeom prst="line">
              <a:avLst/>
            </a:prstGeom>
            <a:ln w="38100" cap="flat">
              <a:solidFill>
                <a:srgbClr val="8D2B2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" name="AutoShape 10"/>
          <p:cNvSpPr/>
          <p:nvPr/>
        </p:nvSpPr>
        <p:spPr>
          <a:xfrm>
            <a:off x="-3431438" y="2920106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Box 19"/>
          <p:cNvSpPr txBox="1"/>
          <p:nvPr/>
        </p:nvSpPr>
        <p:spPr>
          <a:xfrm>
            <a:off x="687789" y="123574"/>
            <a:ext cx="7154324" cy="2726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6600" b="1" dirty="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Customer’s Tenure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5073" y="3478552"/>
            <a:ext cx="5315235" cy="429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>
              <a:buFont typeface="Arial"/>
              <a:buChar char="•"/>
            </a:pPr>
            <a:r>
              <a:rPr lang="en-GB" sz="3200" dirty="0"/>
              <a:t>Customer tenure splits into two distinct groups, jumping from lowest churn under 22 months to highest after.</a:t>
            </a:r>
          </a:p>
          <a:p>
            <a:pPr marL="248283" lvl="1"/>
            <a:endParaRPr lang="en-GB" sz="3200" u="none" spc="71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6567" lvl="1" indent="-248284">
              <a:buFont typeface="Arial"/>
              <a:buChar char="•"/>
            </a:pPr>
            <a:r>
              <a:rPr lang="en-GB" sz="3200" dirty="0"/>
              <a:t>Higher tenure directly correlates with a higher churn rate.</a:t>
            </a:r>
          </a:p>
          <a:p>
            <a:pPr marL="248283" lvl="1"/>
            <a:endParaRPr lang="en-US" sz="2299" u="none" spc="71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1191F26-FF30-D6A2-E2E4-32CF80C25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725038"/>
            <a:ext cx="10457539" cy="6916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03507">
            <a:off x="-8045582" y="1008953"/>
            <a:ext cx="12583451" cy="7382737"/>
            <a:chOff x="0" y="0"/>
            <a:chExt cx="3314160" cy="1944424"/>
          </a:xfrm>
          <a:solidFill>
            <a:srgbClr val="FFE9E9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3314160" cy="1944425"/>
            </a:xfrm>
            <a:custGeom>
              <a:avLst/>
              <a:gdLst/>
              <a:ahLst/>
              <a:cxnLst/>
              <a:rect l="l" t="t" r="r" b="b"/>
              <a:pathLst>
                <a:path w="3314160" h="1944425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2288779" y="4100540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-1524000" y="1773168"/>
            <a:ext cx="2675262" cy="2810990"/>
            <a:chOff x="0" y="0"/>
            <a:chExt cx="773554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3554" cy="812800"/>
            </a:xfrm>
            <a:custGeom>
              <a:avLst/>
              <a:gdLst/>
              <a:ahLst/>
              <a:cxnLst/>
              <a:rect l="l" t="t" r="r" b="b"/>
              <a:pathLst>
                <a:path w="773554" h="812800">
                  <a:moveTo>
                    <a:pt x="0" y="0"/>
                  </a:moveTo>
                  <a:lnTo>
                    <a:pt x="773554" y="0"/>
                  </a:lnTo>
                  <a:lnTo>
                    <a:pt x="77355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27F7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773554" cy="1146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753856" y="9614819"/>
            <a:ext cx="5565113" cy="672181"/>
            <a:chOff x="0" y="0"/>
            <a:chExt cx="1465709" cy="1770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476744" y="0"/>
            <a:ext cx="5565113" cy="672181"/>
            <a:chOff x="0" y="0"/>
            <a:chExt cx="1465709" cy="1770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346444" y="1851405"/>
            <a:ext cx="4996390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6000" b="1" dirty="0">
                <a:solidFill>
                  <a:schemeClr val="accent2">
                    <a:lumMod val="50000"/>
                  </a:schemeClr>
                </a:solidFill>
              </a:rPr>
              <a:t>Churn Risk by Payment Delay</a:t>
            </a:r>
            <a:endParaRPr lang="en-US" sz="9000" b="1" spc="845" dirty="0">
              <a:solidFill>
                <a:schemeClr val="accent2">
                  <a:lumMod val="50000"/>
                </a:schemeClr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03421" y="5182526"/>
            <a:ext cx="5565113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GB" sz="3200" dirty="0"/>
              <a:t>Customers with </a:t>
            </a:r>
            <a:r>
              <a:rPr lang="en-GB" sz="3200" b="1" dirty="0"/>
              <a:t>high payment delays</a:t>
            </a:r>
            <a:r>
              <a:rPr lang="en-GB" sz="3200" dirty="0"/>
              <a:t> are nearly </a:t>
            </a:r>
            <a:r>
              <a:rPr lang="en-GB" sz="3200" b="1" dirty="0"/>
              <a:t>five times </a:t>
            </a:r>
            <a:r>
              <a:rPr lang="en-GB" sz="3200" dirty="0"/>
              <a:t>more likely to churn than those with </a:t>
            </a:r>
            <a:r>
              <a:rPr lang="en-GB" sz="3200" b="1" dirty="0"/>
              <a:t>low delays.</a:t>
            </a:r>
            <a:endParaRPr lang="en-US" sz="2800" b="1" u="none" spc="71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3DF52598-F50D-F647-04AD-93AC5B0BB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537" y="672181"/>
            <a:ext cx="11985456" cy="9440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2725400" y="3638550"/>
            <a:ext cx="5257800" cy="3790950"/>
            <a:chOff x="0" y="0"/>
            <a:chExt cx="1982641" cy="1440374"/>
          </a:xfrm>
          <a:solidFill>
            <a:srgbClr val="FFE9E9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982641" cy="1440374"/>
            </a:xfrm>
            <a:custGeom>
              <a:avLst/>
              <a:gdLst/>
              <a:ahLst/>
              <a:cxnLst/>
              <a:rect l="l" t="t" r="r" b="b"/>
              <a:pathLst>
                <a:path w="1982641" h="1440374">
                  <a:moveTo>
                    <a:pt x="52450" y="0"/>
                  </a:moveTo>
                  <a:lnTo>
                    <a:pt x="1930191" y="0"/>
                  </a:lnTo>
                  <a:cubicBezTo>
                    <a:pt x="1944101" y="0"/>
                    <a:pt x="1957442" y="5526"/>
                    <a:pt x="1967278" y="15362"/>
                  </a:cubicBezTo>
                  <a:cubicBezTo>
                    <a:pt x="1977115" y="25199"/>
                    <a:pt x="1982641" y="38540"/>
                    <a:pt x="1982641" y="52450"/>
                  </a:cubicBezTo>
                  <a:lnTo>
                    <a:pt x="1982641" y="1387923"/>
                  </a:lnTo>
                  <a:cubicBezTo>
                    <a:pt x="1982641" y="1416891"/>
                    <a:pt x="1959158" y="1440374"/>
                    <a:pt x="1930191" y="1440374"/>
                  </a:cubicBezTo>
                  <a:lnTo>
                    <a:pt x="52450" y="1440374"/>
                  </a:lnTo>
                  <a:cubicBezTo>
                    <a:pt x="23483" y="1440374"/>
                    <a:pt x="0" y="1416891"/>
                    <a:pt x="0" y="1387923"/>
                  </a:cubicBezTo>
                  <a:lnTo>
                    <a:pt x="0" y="52450"/>
                  </a:lnTo>
                  <a:cubicBezTo>
                    <a:pt x="0" y="23483"/>
                    <a:pt x="23483" y="0"/>
                    <a:pt x="5245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982641" cy="144037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-2086145" y="1731760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304800" y="800447"/>
            <a:ext cx="5860438" cy="8057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61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 calls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21962" y="747611"/>
            <a:ext cx="4561855" cy="911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900" b="1" dirty="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Threshold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69651" y="3984044"/>
            <a:ext cx="4853211" cy="424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6567" lvl="1" indent="-248284">
              <a:buFont typeface="Arial"/>
              <a:buChar char="•"/>
            </a:pPr>
            <a:r>
              <a:rPr lang="en-GB" sz="2800" dirty="0"/>
              <a:t>Churn rate spikes sharply to </a:t>
            </a:r>
            <a:r>
              <a:rPr lang="en-GB" sz="2800" b="1" dirty="0"/>
              <a:t>over 60% </a:t>
            </a:r>
            <a:r>
              <a:rPr lang="en-GB" sz="2800" dirty="0"/>
              <a:t>after </a:t>
            </a:r>
            <a:r>
              <a:rPr lang="en-GB" sz="2800" b="1" dirty="0"/>
              <a:t>4</a:t>
            </a:r>
            <a:r>
              <a:rPr lang="en-GB" sz="2800" dirty="0"/>
              <a:t> support calls.</a:t>
            </a:r>
          </a:p>
          <a:p>
            <a:pPr marL="496567" lvl="1" indent="-248284">
              <a:buFont typeface="Arial"/>
              <a:buChar char="•"/>
            </a:pPr>
            <a:endParaRPr lang="en-GB" sz="2800" dirty="0"/>
          </a:p>
          <a:p>
            <a:pPr marL="496567" lvl="1" indent="-248284">
              <a:buFont typeface="Arial"/>
              <a:buChar char="•"/>
            </a:pPr>
            <a:r>
              <a:rPr lang="en-GB" sz="2800" dirty="0"/>
              <a:t>Frequent calls may </a:t>
            </a:r>
            <a:r>
              <a:rPr lang="en-GB" sz="2800" b="1" dirty="0"/>
              <a:t>indicate service issues</a:t>
            </a:r>
            <a:r>
              <a:rPr lang="en-GB" sz="2800" dirty="0"/>
              <a:t>, leading to customer churn.</a:t>
            </a:r>
          </a:p>
          <a:p>
            <a:pPr marL="496567" lvl="1" indent="-248284">
              <a:buFont typeface="Arial"/>
              <a:buChar char="•"/>
            </a:pPr>
            <a:endParaRPr lang="en-GB" sz="2800" u="none" spc="71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6567" lvl="1" indent="-248284">
              <a:buFont typeface="Arial"/>
              <a:buChar char="•"/>
            </a:pPr>
            <a:endParaRPr lang="en-GB" sz="2800" u="none" spc="71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96567" lvl="1" indent="-248284">
              <a:buFont typeface="Arial"/>
              <a:buChar char="•"/>
            </a:pPr>
            <a:endParaRPr lang="en-US" sz="2400" u="none" spc="71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DCE108-C939-3C2C-637A-B66D87B18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2694"/>
            <a:ext cx="12420599" cy="84480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074158" y="1095375"/>
            <a:ext cx="9517642" cy="964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300"/>
              </a:lnSpc>
            </a:pPr>
            <a:r>
              <a:rPr lang="en-US" sz="7300" b="1" dirty="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7800" y="2705100"/>
            <a:ext cx="12913909" cy="4837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840"/>
              </a:lnSpc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Monitor customers who make frequent support calls and follow up on existing issues</a:t>
            </a:r>
            <a:r>
              <a:rPr lang="en-US" sz="24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342900" indent="-342900">
              <a:lnSpc>
                <a:spcPts val="3840"/>
              </a:lnSpc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840"/>
              </a:lnSpc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Offer flexible payment options and reminders to customers who are more likely to be late with payments.</a:t>
            </a:r>
            <a:endParaRPr lang="ar-BH" sz="2400" dirty="0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840"/>
              </a:lnSpc>
              <a:buFont typeface="Wingdings" panose="05000000000000000000" pitchFamily="2" charset="2"/>
              <a:buChar char="§"/>
            </a:pPr>
            <a:endParaRPr lang="ar-BH" sz="2400" dirty="0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840"/>
              </a:lnSpc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Offer tiered upgrades based on tenure, giving long-standing customers added value that discourages them from cancelling their subscription.</a:t>
            </a:r>
          </a:p>
          <a:p>
            <a:pPr marL="342900" indent="-342900">
              <a:lnSpc>
                <a:spcPts val="3840"/>
              </a:lnSpc>
              <a:buFont typeface="Wingdings" panose="05000000000000000000" pitchFamily="2" charset="2"/>
              <a:buChar char="§"/>
            </a:pPr>
            <a:endParaRPr lang="ar-BH" sz="2400" dirty="0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ts val="3840"/>
              </a:lnSpc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Encourage customers to switch to longer-term contracts, such as annual ones.</a:t>
            </a:r>
            <a:endParaRPr lang="en-US" sz="2400" dirty="0">
              <a:solidFill>
                <a:srgbClr val="2E2E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" name="Group 10"/>
          <p:cNvGrpSpPr/>
          <p:nvPr/>
        </p:nvGrpSpPr>
        <p:grpSpPr>
          <a:xfrm rot="-3503507">
            <a:off x="8097196" y="-1761402"/>
            <a:ext cx="5068421" cy="1556974"/>
            <a:chOff x="0" y="0"/>
            <a:chExt cx="1334893" cy="4100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34893" cy="410067"/>
            </a:xfrm>
            <a:custGeom>
              <a:avLst/>
              <a:gdLst/>
              <a:ahLst/>
              <a:cxnLst/>
              <a:rect l="l" t="t" r="r" b="b"/>
              <a:pathLst>
                <a:path w="1334893" h="410067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332166"/>
                  </a:lnTo>
                  <a:cubicBezTo>
                    <a:pt x="1334893" y="352826"/>
                    <a:pt x="1326685" y="372641"/>
                    <a:pt x="1312076" y="387250"/>
                  </a:cubicBezTo>
                  <a:cubicBezTo>
                    <a:pt x="1297467" y="401860"/>
                    <a:pt x="1277652" y="410067"/>
                    <a:pt x="1256991" y="410067"/>
                  </a:cubicBezTo>
                  <a:lnTo>
                    <a:pt x="77902" y="410067"/>
                  </a:lnTo>
                  <a:cubicBezTo>
                    <a:pt x="57241" y="410067"/>
                    <a:pt x="37426" y="401860"/>
                    <a:pt x="22817" y="387250"/>
                  </a:cubicBezTo>
                  <a:cubicBezTo>
                    <a:pt x="8207" y="372641"/>
                    <a:pt x="0" y="352826"/>
                    <a:pt x="0" y="332166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33375"/>
              <a:ext cx="1334893" cy="743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-2263054" y="2266609"/>
            <a:ext cx="1060214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24200" y="4381500"/>
            <a:ext cx="11882877" cy="10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9600" b="1" dirty="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id="10" name="Group 10"/>
          <p:cNvGrpSpPr/>
          <p:nvPr/>
        </p:nvGrpSpPr>
        <p:grpSpPr>
          <a:xfrm rot="-3503507">
            <a:off x="-2356457" y="6564794"/>
            <a:ext cx="5968439" cy="2484763"/>
            <a:chOff x="0" y="0"/>
            <a:chExt cx="1571935" cy="6544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71935" cy="654423"/>
            </a:xfrm>
            <a:custGeom>
              <a:avLst/>
              <a:gdLst/>
              <a:ahLst/>
              <a:cxnLst/>
              <a:rect l="l" t="t" r="r" b="b"/>
              <a:pathLst>
                <a:path w="1571935" h="654423">
                  <a:moveTo>
                    <a:pt x="66154" y="0"/>
                  </a:moveTo>
                  <a:lnTo>
                    <a:pt x="1505780" y="0"/>
                  </a:lnTo>
                  <a:cubicBezTo>
                    <a:pt x="1523326" y="0"/>
                    <a:pt x="1540152" y="6970"/>
                    <a:pt x="1552558" y="19376"/>
                  </a:cubicBezTo>
                  <a:cubicBezTo>
                    <a:pt x="1564965" y="31782"/>
                    <a:pt x="1571935" y="48609"/>
                    <a:pt x="1571935" y="66154"/>
                  </a:cubicBezTo>
                  <a:lnTo>
                    <a:pt x="1571935" y="588269"/>
                  </a:lnTo>
                  <a:cubicBezTo>
                    <a:pt x="1571935" y="624805"/>
                    <a:pt x="1542316" y="654423"/>
                    <a:pt x="1505780" y="654423"/>
                  </a:cubicBezTo>
                  <a:lnTo>
                    <a:pt x="66154" y="654423"/>
                  </a:lnTo>
                  <a:cubicBezTo>
                    <a:pt x="29618" y="654423"/>
                    <a:pt x="0" y="624805"/>
                    <a:pt x="0" y="588269"/>
                  </a:cubicBezTo>
                  <a:lnTo>
                    <a:pt x="0" y="66154"/>
                  </a:lnTo>
                  <a:cubicBezTo>
                    <a:pt x="0" y="29618"/>
                    <a:pt x="29618" y="0"/>
                    <a:pt x="66154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33375"/>
              <a:ext cx="1571935" cy="987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3503507">
            <a:off x="14958997" y="1874234"/>
            <a:ext cx="6145518" cy="2741564"/>
            <a:chOff x="0" y="0"/>
            <a:chExt cx="1618573" cy="7220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18573" cy="722058"/>
            </a:xfrm>
            <a:custGeom>
              <a:avLst/>
              <a:gdLst/>
              <a:ahLst/>
              <a:cxnLst/>
              <a:rect l="l" t="t" r="r" b="b"/>
              <a:pathLst>
                <a:path w="1618573" h="722058">
                  <a:moveTo>
                    <a:pt x="64248" y="0"/>
                  </a:moveTo>
                  <a:lnTo>
                    <a:pt x="1554325" y="0"/>
                  </a:lnTo>
                  <a:cubicBezTo>
                    <a:pt x="1571364" y="0"/>
                    <a:pt x="1587706" y="6769"/>
                    <a:pt x="1599755" y="18818"/>
                  </a:cubicBezTo>
                  <a:cubicBezTo>
                    <a:pt x="1611804" y="30867"/>
                    <a:pt x="1618573" y="47208"/>
                    <a:pt x="1618573" y="64248"/>
                  </a:cubicBezTo>
                  <a:lnTo>
                    <a:pt x="1618573" y="657810"/>
                  </a:lnTo>
                  <a:cubicBezTo>
                    <a:pt x="1618573" y="674850"/>
                    <a:pt x="1611804" y="691191"/>
                    <a:pt x="1599755" y="703240"/>
                  </a:cubicBezTo>
                  <a:cubicBezTo>
                    <a:pt x="1587706" y="715289"/>
                    <a:pt x="1571364" y="722058"/>
                    <a:pt x="1554325" y="722058"/>
                  </a:cubicBezTo>
                  <a:lnTo>
                    <a:pt x="64248" y="722058"/>
                  </a:lnTo>
                  <a:cubicBezTo>
                    <a:pt x="47208" y="722058"/>
                    <a:pt x="30867" y="715289"/>
                    <a:pt x="18818" y="703240"/>
                  </a:cubicBezTo>
                  <a:cubicBezTo>
                    <a:pt x="6769" y="691191"/>
                    <a:pt x="0" y="674850"/>
                    <a:pt x="0" y="657810"/>
                  </a:cubicBezTo>
                  <a:lnTo>
                    <a:pt x="0" y="64248"/>
                  </a:lnTo>
                  <a:cubicBezTo>
                    <a:pt x="0" y="47208"/>
                    <a:pt x="6769" y="30867"/>
                    <a:pt x="18818" y="18818"/>
                  </a:cubicBezTo>
                  <a:cubicBezTo>
                    <a:pt x="30867" y="6769"/>
                    <a:pt x="47208" y="0"/>
                    <a:pt x="64248" y="0"/>
                  </a:cubicBezTo>
                  <a:close/>
                </a:path>
              </a:pathLst>
            </a:custGeom>
            <a:solidFill>
              <a:srgbClr val="FFE9E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33375"/>
              <a:ext cx="1618573" cy="1055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451</Words>
  <Application>Microsoft Office PowerPoint</Application>
  <PresentationFormat>Custom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Poppins</vt:lpstr>
      <vt:lpstr>Arial</vt:lpstr>
      <vt:lpstr>Poppins Bold</vt:lpstr>
      <vt:lpstr>Calibri</vt:lpstr>
      <vt:lpstr>Canva Sans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&amp; White Geometric Bold Simple Company Profile Presentation</dc:title>
  <cp:lastModifiedBy>Noor Taqi</cp:lastModifiedBy>
  <cp:revision>9</cp:revision>
  <dcterms:created xsi:type="dcterms:W3CDTF">2006-08-16T00:00:00Z</dcterms:created>
  <dcterms:modified xsi:type="dcterms:W3CDTF">2026-09-28T20:16:44Z</dcterms:modified>
  <dc:identifier>DAHWe9Yk2EY</dc:identifier>
</cp:coreProperties>
</file>